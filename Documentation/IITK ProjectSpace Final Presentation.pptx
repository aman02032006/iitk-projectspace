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7"/>
  </p:notesMasterIdLst>
  <p:sldIdLst>
    <p:sldId id="256" r:id="rId2"/>
    <p:sldId id="257" r:id="rId3"/>
    <p:sldId id="258" r:id="rId4"/>
    <p:sldId id="264" r:id="rId5"/>
    <p:sldId id="265" r:id="rId6"/>
    <p:sldId id="266" r:id="rId7"/>
    <p:sldId id="267" r:id="rId8"/>
    <p:sldId id="268" r:id="rId9"/>
    <p:sldId id="269" r:id="rId10"/>
    <p:sldId id="271" r:id="rId11"/>
    <p:sldId id="272" r:id="rId12"/>
    <p:sldId id="273" r:id="rId13"/>
    <p:sldId id="274" r:id="rId14"/>
    <p:sldId id="275" r:id="rId15"/>
    <p:sldId id="276" r:id="rId16"/>
  </p:sldIdLst>
  <p:sldSz cx="18288000" cy="10287000"/>
  <p:notesSz cx="6858000" cy="9144000"/>
  <p:embeddedFontLst>
    <p:embeddedFont>
      <p:font typeface="Canva Sans" panose="020B0604020202020204" charset="0"/>
      <p:regular r:id="rId18"/>
    </p:embeddedFont>
    <p:embeddedFont>
      <p:font typeface="Canva Sans Bold" panose="020B0604020202020204" charset="0"/>
      <p:regular r:id="rId19"/>
    </p:embeddedFont>
    <p:embeddedFont>
      <p:font typeface="Montserrat" panose="00000500000000000000" pitchFamily="2" charset="0"/>
      <p:regular r:id="rId20"/>
      <p:bold r:id="rId21"/>
      <p:italic r:id="rId22"/>
      <p:boldItalic r:id="rId23"/>
    </p:embeddedFont>
    <p:embeddedFont>
      <p:font typeface="Montserrat Bold" panose="00000800000000000000" charset="0"/>
      <p:regular r:id="rId24"/>
    </p:embeddedFont>
    <p:embeddedFont>
      <p:font typeface="Open San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06F62-BDE0-43B7-984C-58FA0573A3FC}" v="3616" dt="2026-04-25T10:35:57.2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823D4-6F7A-466F-836D-F3C25EADA88D}" type="datetimeFigureOut">
              <a:rPr lang="en-IN" smtClean="0"/>
              <a:t>25-04-2026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4F02ED-FC47-48D1-A7F5-0F9DACB249F3}" type="slidenum">
              <a:rPr lang="en-IN" smtClean="0"/>
              <a:t>‹#›</a:t>
            </a:fld>
            <a:endParaRPr lang="en-IN"/>
          </a:p>
        </p:txBody>
      </p:sp>
    </p:spTree>
    <p:extLst>
      <p:ext uri="{BB962C8B-B14F-4D97-AF65-F5344CB8AC3E}">
        <p14:creationId xmlns:p14="http://schemas.microsoft.com/office/powerpoint/2010/main" val="368508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EC117B7-AA5A-464C-BA2A-4B3C99BC9902}"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3D64AB-3BF9-4BC8-9717-E8FD8A0378B4}"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28F701-A47E-4C21-8E60-75377FC505BD}"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543F76-E467-4A4F-922B-B82B6D416127}"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B3F1F9-7BD5-48A8-888B-C8B3D7075EF0}"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D7EDB7-377B-4030-807F-9E8F27B0CE25}"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531A01-98D6-4540-A0CC-9F5711674A58}"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52120C-8F17-4FD9-BA4A-A5858EC33A1B}"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03E1E1-69A9-470B-9F13-B7FB01864046}"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F813B-B236-4563-888F-9F9A6775F93F}"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84174C-4791-4C3D-A208-D902EEAA08CD}"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C8F988-EBD9-407B-A25C-2CD6F54CB677}" type="datetime1">
              <a:rPr lang="en-US" smtClean="0"/>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github.com/Aman02032006/IITK-ProjectSpace"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l="-12529" r="-12529"/>
            </a:stretch>
          </a:blipFill>
        </p:spPr>
      </p:sp>
      <p:sp>
        <p:nvSpPr>
          <p:cNvPr id="4" name="AutoShape 4"/>
          <p:cNvSpPr/>
          <p:nvPr/>
        </p:nvSpPr>
        <p:spPr>
          <a:xfrm flipV="1">
            <a:off x="1986655" y="6823515"/>
            <a:ext cx="14314689" cy="0"/>
          </a:xfrm>
          <a:prstGeom prst="line">
            <a:avLst/>
          </a:prstGeom>
          <a:ln w="19050" cap="flat">
            <a:solidFill>
              <a:srgbClr val="FFFFFF"/>
            </a:solidFill>
            <a:prstDash val="solid"/>
            <a:headEnd type="none" w="sm" len="sm"/>
            <a:tailEnd type="none" w="sm" len="sm"/>
          </a:ln>
        </p:spPr>
      </p:sp>
      <p:sp>
        <p:nvSpPr>
          <p:cNvPr id="5" name="TextBox 5"/>
          <p:cNvSpPr txBox="1"/>
          <p:nvPr/>
        </p:nvSpPr>
        <p:spPr>
          <a:xfrm>
            <a:off x="1986655" y="3605212"/>
            <a:ext cx="14314689" cy="2905125"/>
          </a:xfrm>
          <a:prstGeom prst="rect">
            <a:avLst/>
          </a:prstGeom>
        </p:spPr>
        <p:txBody>
          <a:bodyPr lIns="0" tIns="0" rIns="0" bIns="0" rtlCol="0" anchor="t">
            <a:spAutoFit/>
          </a:bodyPr>
          <a:lstStyle/>
          <a:p>
            <a:pPr algn="ctr">
              <a:lnSpc>
                <a:spcPts val="9000"/>
              </a:lnSpc>
            </a:pPr>
            <a:r>
              <a:rPr lang="en-US" sz="6000">
                <a:solidFill>
                  <a:srgbClr val="FFFFFF"/>
                </a:solidFill>
                <a:latin typeface="Montserrat"/>
                <a:ea typeface="Montserrat"/>
                <a:cs typeface="Montserrat"/>
                <a:sym typeface="Montserrat"/>
              </a:rPr>
              <a:t>CS253 Project</a:t>
            </a:r>
          </a:p>
          <a:p>
            <a:pPr algn="ctr">
              <a:lnSpc>
                <a:spcPts val="14999"/>
              </a:lnSpc>
            </a:pPr>
            <a:r>
              <a:rPr lang="en-US" sz="9999" b="1">
                <a:solidFill>
                  <a:srgbClr val="FFFFFF"/>
                </a:solidFill>
                <a:latin typeface="Montserrat Bold"/>
                <a:ea typeface="Montserrat Bold"/>
                <a:cs typeface="Montserrat Bold"/>
                <a:sym typeface="Montserrat Bold"/>
              </a:rPr>
              <a:t>IITK ProjectSpace</a:t>
            </a:r>
          </a:p>
        </p:txBody>
      </p:sp>
      <p:grpSp>
        <p:nvGrpSpPr>
          <p:cNvPr id="6" name="Group 6"/>
          <p:cNvGrpSpPr/>
          <p:nvPr/>
        </p:nvGrpSpPr>
        <p:grpSpPr>
          <a:xfrm>
            <a:off x="5856628" y="1160581"/>
            <a:ext cx="6574744" cy="1406406"/>
            <a:chOff x="0" y="0"/>
            <a:chExt cx="8766325" cy="1875208"/>
          </a:xfrm>
        </p:grpSpPr>
        <p:sp>
          <p:nvSpPr>
            <p:cNvPr id="7" name="Freeform 7"/>
            <p:cNvSpPr/>
            <p:nvPr/>
          </p:nvSpPr>
          <p:spPr>
            <a:xfrm>
              <a:off x="0" y="0"/>
              <a:ext cx="1987699" cy="1875208"/>
            </a:xfrm>
            <a:custGeom>
              <a:avLst/>
              <a:gdLst/>
              <a:ahLst/>
              <a:cxnLst/>
              <a:rect l="l" t="t" r="r" b="b"/>
              <a:pathLst>
                <a:path w="1987699" h="1875208">
                  <a:moveTo>
                    <a:pt x="0" y="0"/>
                  </a:moveTo>
                  <a:lnTo>
                    <a:pt x="1987699" y="0"/>
                  </a:lnTo>
                  <a:lnTo>
                    <a:pt x="1987699" y="1875208"/>
                  </a:lnTo>
                  <a:lnTo>
                    <a:pt x="0" y="1875208"/>
                  </a:lnTo>
                  <a:lnTo>
                    <a:pt x="0" y="0"/>
                  </a:lnTo>
                  <a:close/>
                </a:path>
              </a:pathLst>
            </a:custGeom>
            <a:blipFill>
              <a:blip r:embed="rId4"/>
              <a:stretch>
                <a:fillRect t="-2999" b="-2999"/>
              </a:stretch>
            </a:blipFill>
          </p:spPr>
        </p:sp>
        <p:sp>
          <p:nvSpPr>
            <p:cNvPr id="8" name="TextBox 8"/>
            <p:cNvSpPr txBox="1"/>
            <p:nvPr/>
          </p:nvSpPr>
          <p:spPr>
            <a:xfrm>
              <a:off x="2181722" y="437224"/>
              <a:ext cx="6584603" cy="924560"/>
            </a:xfrm>
            <a:prstGeom prst="rect">
              <a:avLst/>
            </a:prstGeom>
          </p:spPr>
          <p:txBody>
            <a:bodyPr lIns="0" tIns="0" rIns="0" bIns="0" rtlCol="0" anchor="t">
              <a:spAutoFit/>
            </a:bodyPr>
            <a:lstStyle/>
            <a:p>
              <a:pPr algn="just">
                <a:lnSpc>
                  <a:spcPts val="5880"/>
                </a:lnSpc>
                <a:spcBef>
                  <a:spcPct val="0"/>
                </a:spcBef>
              </a:pPr>
              <a:r>
                <a:rPr lang="en-US" sz="4200" b="1" dirty="0">
                  <a:solidFill>
                    <a:srgbClr val="FFFFFF"/>
                  </a:solidFill>
                  <a:latin typeface="Open Sans Bold"/>
                  <a:ea typeface="Open Sans Bold"/>
                  <a:cs typeface="Open Sans Bold"/>
                  <a:sym typeface="Open Sans Bold"/>
                </a:rPr>
                <a:t>Team Kernel Panic</a:t>
              </a:r>
            </a:p>
          </p:txBody>
        </p:sp>
      </p:grpSp>
      <p:sp>
        <p:nvSpPr>
          <p:cNvPr id="9" name="AutoShape 9"/>
          <p:cNvSpPr/>
          <p:nvPr/>
        </p:nvSpPr>
        <p:spPr>
          <a:xfrm flipV="1">
            <a:off x="1986655" y="3462337"/>
            <a:ext cx="14314689" cy="0"/>
          </a:xfrm>
          <a:prstGeom prst="line">
            <a:avLst/>
          </a:prstGeom>
          <a:ln w="19050" cap="flat">
            <a:solidFill>
              <a:srgbClr val="FFFFFF"/>
            </a:solidFill>
            <a:prstDash val="solid"/>
            <a:headEnd type="none" w="sm" len="sm"/>
            <a:tailEnd type="none" w="sm" len="sm"/>
          </a:ln>
        </p:spPr>
      </p:sp>
      <p:sp>
        <p:nvSpPr>
          <p:cNvPr id="11" name="TextBox 11"/>
          <p:cNvSpPr txBox="1"/>
          <p:nvPr/>
        </p:nvSpPr>
        <p:spPr>
          <a:xfrm>
            <a:off x="7330439" y="7727729"/>
            <a:ext cx="3627120" cy="514350"/>
          </a:xfrm>
          <a:prstGeom prst="rect">
            <a:avLst/>
          </a:prstGeom>
        </p:spPr>
        <p:txBody>
          <a:bodyPr wrap="square" lIns="0" tIns="0" rIns="0" bIns="0" rtlCol="0" anchor="t">
            <a:spAutoFit/>
          </a:bodyPr>
          <a:lstStyle/>
          <a:p>
            <a:pPr algn="l">
              <a:lnSpc>
                <a:spcPts val="4200"/>
              </a:lnSpc>
            </a:pPr>
            <a:r>
              <a:rPr lang="en-US" sz="3000" u="sng" spc="60" dirty="0" err="1">
                <a:solidFill>
                  <a:srgbClr val="FFFFFF"/>
                </a:solidFill>
                <a:latin typeface="Montserrat"/>
                <a:ea typeface="Montserrat"/>
                <a:cs typeface="Montserrat"/>
                <a:sym typeface="Montserrat"/>
                <a:hlinkClick r:id="rId5" tooltip="https://github.com/Aman02032006/IITK-ProjectSpace"/>
              </a:rPr>
              <a:t>Github</a:t>
            </a:r>
            <a:r>
              <a:rPr lang="en-US" sz="3000" u="sng" spc="60" dirty="0">
                <a:solidFill>
                  <a:srgbClr val="FFFFFF"/>
                </a:solidFill>
                <a:latin typeface="Montserrat"/>
                <a:ea typeface="Montserrat"/>
                <a:cs typeface="Montserrat"/>
                <a:sym typeface="Montserrat"/>
                <a:hlinkClick r:id="rId5" tooltip="https://github.com/Aman02032006/IITK-ProjectSpace"/>
              </a:rPr>
              <a:t> Repository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545708" cy="10287000"/>
            <a:chOff x="0" y="0"/>
            <a:chExt cx="1197223" cy="2709333"/>
          </a:xfrm>
        </p:grpSpPr>
        <p:sp>
          <p:nvSpPr>
            <p:cNvPr id="3" name="Freeform 3"/>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p:cNvSpPr/>
          <p:nvPr/>
        </p:nvSpPr>
        <p:spPr>
          <a:xfrm>
            <a:off x="0" y="0"/>
            <a:ext cx="4545708"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5"/>
            </a:stretch>
          </a:blipFill>
        </p:spPr>
      </p:sp>
      <p:sp>
        <p:nvSpPr>
          <p:cNvPr id="10" name="TextBox 10"/>
          <p:cNvSpPr txBox="1"/>
          <p:nvPr/>
        </p:nvSpPr>
        <p:spPr>
          <a:xfrm>
            <a:off x="5940332" y="517954"/>
            <a:ext cx="10728008" cy="1571625"/>
          </a:xfrm>
          <a:prstGeom prst="rect">
            <a:avLst/>
          </a:prstGeom>
        </p:spPr>
        <p:txBody>
          <a:bodyPr lIns="0" tIns="0" rIns="0" bIns="0" rtlCol="0" anchor="t">
            <a:spAutoFit/>
          </a:bodyPr>
          <a:lstStyle/>
          <a:p>
            <a:pPr algn="l">
              <a:lnSpc>
                <a:spcPts val="6300"/>
              </a:lnSpc>
            </a:pPr>
            <a:r>
              <a:rPr lang="en-US" sz="4500" b="1" dirty="0">
                <a:solidFill>
                  <a:srgbClr val="000000"/>
                </a:solidFill>
                <a:latin typeface="Canva Sans Bold"/>
                <a:ea typeface="Canva Sans Bold"/>
                <a:cs typeface="Canva Sans Bold"/>
                <a:sym typeface="Canva Sans Bold"/>
              </a:rPr>
              <a:t>What problem does IITK </a:t>
            </a:r>
            <a:r>
              <a:rPr lang="en-US" sz="4500" b="1" dirty="0" err="1">
                <a:solidFill>
                  <a:srgbClr val="000000"/>
                </a:solidFill>
                <a:latin typeface="Canva Sans Bold"/>
                <a:ea typeface="Canva Sans Bold"/>
                <a:cs typeface="Canva Sans Bold"/>
                <a:sym typeface="Canva Sans Bold"/>
              </a:rPr>
              <a:t>ProjectSpace</a:t>
            </a:r>
            <a:r>
              <a:rPr lang="en-US" sz="4500" b="1" dirty="0">
                <a:solidFill>
                  <a:srgbClr val="000000"/>
                </a:solidFill>
                <a:latin typeface="Canva Sans Bold"/>
                <a:ea typeface="Canva Sans Bold"/>
                <a:cs typeface="Canva Sans Bold"/>
                <a:sym typeface="Canva Sans Bold"/>
              </a:rPr>
              <a:t> actually solve?</a:t>
            </a:r>
          </a:p>
        </p:txBody>
      </p:sp>
      <p:sp>
        <p:nvSpPr>
          <p:cNvPr id="11" name="TextBox 11"/>
          <p:cNvSpPr txBox="1"/>
          <p:nvPr/>
        </p:nvSpPr>
        <p:spPr>
          <a:xfrm>
            <a:off x="5447866" y="2421881"/>
            <a:ext cx="11712940" cy="2734310"/>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Projects and collaboration are an integral part of the IITK Community. Absolutely everybody takes part in projects, be it Professors, PhD scholars, PG or UG students. However currently, there is no particular way for the community to showcase their past projects or find collaborators for their future ones. IITK </a:t>
            </a:r>
            <a:r>
              <a:rPr lang="en-US" sz="2600" dirty="0" err="1">
                <a:solidFill>
                  <a:srgbClr val="000000"/>
                </a:solidFill>
                <a:latin typeface="Canva Sans"/>
                <a:ea typeface="Canva Sans"/>
                <a:cs typeface="Canva Sans"/>
                <a:sym typeface="Canva Sans"/>
              </a:rPr>
              <a:t>ProjectSpace</a:t>
            </a:r>
            <a:r>
              <a:rPr lang="en-US" sz="2600" dirty="0">
                <a:solidFill>
                  <a:srgbClr val="000000"/>
                </a:solidFill>
                <a:latin typeface="Canva Sans"/>
                <a:ea typeface="Canva Sans"/>
                <a:cs typeface="Canva Sans"/>
                <a:sym typeface="Canva Sans"/>
              </a:rPr>
              <a:t> solves this issue in the following ways:</a:t>
            </a:r>
          </a:p>
        </p:txBody>
      </p:sp>
      <p:sp>
        <p:nvSpPr>
          <p:cNvPr id="12" name="TextBox 12"/>
          <p:cNvSpPr txBox="1"/>
          <p:nvPr/>
        </p:nvSpPr>
        <p:spPr>
          <a:xfrm>
            <a:off x="5447866" y="5470516"/>
            <a:ext cx="11712940" cy="905510"/>
          </a:xfrm>
          <a:prstGeom prst="rect">
            <a:avLst/>
          </a:prstGeom>
        </p:spPr>
        <p:txBody>
          <a:bodyPr lIns="0" tIns="0" rIns="0" bIns="0" rtlCol="0" anchor="t">
            <a:spAutoFit/>
          </a:bodyPr>
          <a:lstStyle/>
          <a:p>
            <a:pPr marL="561341" lvl="1" indent="-280670" algn="l">
              <a:lnSpc>
                <a:spcPts val="3640"/>
              </a:lnSpc>
              <a:buFont typeface="Arial"/>
              <a:buChar char="•"/>
            </a:pPr>
            <a:r>
              <a:rPr lang="en-US" sz="2600" dirty="0">
                <a:solidFill>
                  <a:srgbClr val="000000"/>
                </a:solidFill>
                <a:latin typeface="Canva Sans"/>
                <a:ea typeface="Canva Sans"/>
                <a:cs typeface="Canva Sans"/>
                <a:sym typeface="Canva Sans"/>
              </a:rPr>
              <a:t>Users can maintain a personal portfolio profile including details such as email, department, skills, personal bio, social links, etc.</a:t>
            </a:r>
          </a:p>
        </p:txBody>
      </p:sp>
      <p:sp>
        <p:nvSpPr>
          <p:cNvPr id="13" name="TextBox 13"/>
          <p:cNvSpPr txBox="1"/>
          <p:nvPr/>
        </p:nvSpPr>
        <p:spPr>
          <a:xfrm>
            <a:off x="5447866" y="6690351"/>
            <a:ext cx="11712940" cy="1362710"/>
          </a:xfrm>
          <a:prstGeom prst="rect">
            <a:avLst/>
          </a:prstGeom>
        </p:spPr>
        <p:txBody>
          <a:bodyPr lIns="0" tIns="0" rIns="0" bIns="0" rtlCol="0" anchor="t">
            <a:spAutoFit/>
          </a:bodyPr>
          <a:lstStyle/>
          <a:p>
            <a:pPr marL="561341" lvl="1" indent="-280670" algn="l">
              <a:lnSpc>
                <a:spcPts val="3640"/>
              </a:lnSpc>
              <a:buFont typeface="Arial"/>
              <a:buChar char="•"/>
            </a:pPr>
            <a:r>
              <a:rPr lang="en-US" sz="2600" dirty="0">
                <a:solidFill>
                  <a:srgbClr val="000000"/>
                </a:solidFill>
                <a:latin typeface="Canva Sans"/>
                <a:ea typeface="Canva Sans"/>
                <a:cs typeface="Canva Sans"/>
                <a:sym typeface="Canva Sans"/>
              </a:rPr>
              <a:t>Users can post projects and project recruitments with details such as title, rich text descriptions, domains, media, related links and team members. </a:t>
            </a:r>
          </a:p>
        </p:txBody>
      </p:sp>
      <p:sp>
        <p:nvSpPr>
          <p:cNvPr id="14" name="TextBox 14"/>
          <p:cNvSpPr txBox="1"/>
          <p:nvPr/>
        </p:nvSpPr>
        <p:spPr>
          <a:xfrm>
            <a:off x="5447866" y="8367385"/>
            <a:ext cx="11712940" cy="905510"/>
          </a:xfrm>
          <a:prstGeom prst="rect">
            <a:avLst/>
          </a:prstGeom>
        </p:spPr>
        <p:txBody>
          <a:bodyPr lIns="0" tIns="0" rIns="0" bIns="0" rtlCol="0" anchor="t">
            <a:spAutoFit/>
          </a:bodyPr>
          <a:lstStyle/>
          <a:p>
            <a:pPr marL="561341" lvl="1" indent="-280670" algn="l">
              <a:lnSpc>
                <a:spcPts val="3640"/>
              </a:lnSpc>
              <a:buFont typeface="Arial"/>
              <a:buChar char="•"/>
            </a:pPr>
            <a:r>
              <a:rPr lang="en-US" sz="2600" dirty="0">
                <a:solidFill>
                  <a:srgbClr val="000000"/>
                </a:solidFill>
                <a:latin typeface="Canva Sans"/>
                <a:ea typeface="Canva Sans"/>
                <a:cs typeface="Canva Sans"/>
                <a:sym typeface="Canva Sans"/>
              </a:rPr>
              <a:t>Users can apply to project recruitments posted by professors, clubs or simply other users looking for collaborators on a project. </a:t>
            </a:r>
          </a:p>
        </p:txBody>
      </p:sp>
      <p:grpSp>
        <p:nvGrpSpPr>
          <p:cNvPr id="6" name="Group 7">
            <a:extLst>
              <a:ext uri="{FF2B5EF4-FFF2-40B4-BE49-F238E27FC236}">
                <a16:creationId xmlns:a16="http://schemas.microsoft.com/office/drawing/2014/main" id="{3BFED26C-00B9-B855-4F6B-781F10D66C33}"/>
              </a:ext>
            </a:extLst>
          </p:cNvPr>
          <p:cNvGrpSpPr/>
          <p:nvPr/>
        </p:nvGrpSpPr>
        <p:grpSpPr>
          <a:xfrm>
            <a:off x="272710" y="9105900"/>
            <a:ext cx="4000284" cy="850043"/>
            <a:chOff x="0" y="0"/>
            <a:chExt cx="5333714" cy="1133391"/>
          </a:xfrm>
        </p:grpSpPr>
        <p:sp>
          <p:nvSpPr>
            <p:cNvPr id="15" name="Freeform 8">
              <a:extLst>
                <a:ext uri="{FF2B5EF4-FFF2-40B4-BE49-F238E27FC236}">
                  <a16:creationId xmlns:a16="http://schemas.microsoft.com/office/drawing/2014/main" id="{6192A70A-85A6-E95E-B351-8B88BE40FD74}"/>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6" name="TextBox 9">
              <a:extLst>
                <a:ext uri="{FF2B5EF4-FFF2-40B4-BE49-F238E27FC236}">
                  <a16:creationId xmlns:a16="http://schemas.microsoft.com/office/drawing/2014/main" id="{28013407-74D9-966F-4996-0DC06CAEFED0}"/>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xEl>
                                              <p:pRg st="0" end="0"/>
                                            </p:txEl>
                                          </p:spTgt>
                                        </p:tgtEl>
                                        <p:attrNameLst>
                                          <p:attrName>style.visibility</p:attrName>
                                        </p:attrNameLst>
                                      </p:cBhvr>
                                      <p:to>
                                        <p:strVal val="visible"/>
                                      </p:to>
                                    </p:set>
                                    <p:animEffect transition="in" filter="fade">
                                      <p:cBhvr>
                                        <p:cTn id="30" dur="500"/>
                                        <p:tgtEl>
                                          <p:spTgt spid="1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545708" cy="10287000"/>
            <a:chOff x="0" y="0"/>
            <a:chExt cx="1197223" cy="2709333"/>
          </a:xfrm>
        </p:grpSpPr>
        <p:sp>
          <p:nvSpPr>
            <p:cNvPr id="3" name="Freeform 3"/>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Requirements</a:t>
            </a:r>
          </a:p>
        </p:txBody>
      </p:sp>
      <p:sp>
        <p:nvSpPr>
          <p:cNvPr id="11" name="TextBox 11"/>
          <p:cNvSpPr txBox="1"/>
          <p:nvPr/>
        </p:nvSpPr>
        <p:spPr>
          <a:xfrm>
            <a:off x="5447866" y="4051300"/>
            <a:ext cx="11712940" cy="4563110"/>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webapp must allow the users to maintain a personal portfolio on their user profile.</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This must include details such as, but not limited to, Name, Email, designation, department, degree, social links. A list of skills and domains related to the user. A personal bio section where the user is able to express their areas of interests and background. </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The user profile should also list all the projects and project recruitments that the user is consensually a part of.</a:t>
            </a:r>
          </a:p>
        </p:txBody>
      </p:sp>
      <p:sp>
        <p:nvSpPr>
          <p:cNvPr id="12" name="TextBox 12"/>
          <p:cNvSpPr txBox="1"/>
          <p:nvPr/>
        </p:nvSpPr>
        <p:spPr>
          <a:xfrm>
            <a:off x="5447866" y="2476500"/>
            <a:ext cx="11712940" cy="679450"/>
          </a:xfrm>
          <a:prstGeom prst="rect">
            <a:avLst/>
          </a:prstGeom>
        </p:spPr>
        <p:txBody>
          <a:bodyPr lIns="0" tIns="0" rIns="0" bIns="0" rtlCol="0" anchor="t">
            <a:spAutoFit/>
          </a:bodyPr>
          <a:lstStyle/>
          <a:p>
            <a:pPr algn="l">
              <a:lnSpc>
                <a:spcPts val="5599"/>
              </a:lnSpc>
            </a:pPr>
            <a:r>
              <a:rPr lang="en-US" sz="3999" b="1" dirty="0">
                <a:solidFill>
                  <a:srgbClr val="000000"/>
                </a:solidFill>
                <a:latin typeface="Canva Sans Bold"/>
                <a:ea typeface="Canva Sans Bold"/>
                <a:cs typeface="Canva Sans Bold"/>
                <a:sym typeface="Canva Sans Bold"/>
              </a:rPr>
              <a:t>User Profile as a Personal Portfolio</a:t>
            </a:r>
          </a:p>
        </p:txBody>
      </p:sp>
      <p:grpSp>
        <p:nvGrpSpPr>
          <p:cNvPr id="6" name="Group 7">
            <a:extLst>
              <a:ext uri="{FF2B5EF4-FFF2-40B4-BE49-F238E27FC236}">
                <a16:creationId xmlns:a16="http://schemas.microsoft.com/office/drawing/2014/main" id="{4F0B9760-6DCE-65EF-A8E5-A7F6A809E7F6}"/>
              </a:ext>
            </a:extLst>
          </p:cNvPr>
          <p:cNvGrpSpPr/>
          <p:nvPr/>
        </p:nvGrpSpPr>
        <p:grpSpPr>
          <a:xfrm>
            <a:off x="272710" y="9105900"/>
            <a:ext cx="4000284" cy="850043"/>
            <a:chOff x="0" y="0"/>
            <a:chExt cx="5333714" cy="1133391"/>
          </a:xfrm>
        </p:grpSpPr>
        <p:sp>
          <p:nvSpPr>
            <p:cNvPr id="13" name="Freeform 8">
              <a:extLst>
                <a:ext uri="{FF2B5EF4-FFF2-40B4-BE49-F238E27FC236}">
                  <a16:creationId xmlns:a16="http://schemas.microsoft.com/office/drawing/2014/main" id="{6C40F90F-6BAA-32F8-5E2B-C5327A1756B1}"/>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4" name="TextBox 9">
              <a:extLst>
                <a:ext uri="{FF2B5EF4-FFF2-40B4-BE49-F238E27FC236}">
                  <a16:creationId xmlns:a16="http://schemas.microsoft.com/office/drawing/2014/main" id="{94A00DF4-CC13-8475-9047-606F998CCB5D}"/>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fade">
                                      <p:cBhvr>
                                        <p:cTn id="22" dur="500"/>
                                        <p:tgtEl>
                                          <p:spTgt spid="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3A45-BEC6-1C99-729D-21D87129BF6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695DAFD-A4F0-99B3-B048-F99082535118}"/>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9FC47AA3-1BE5-AD82-2C41-E65051B85038}"/>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A34189FD-878E-2A0D-1B32-22888F512D87}"/>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A6B9A0A7-C9A2-036D-EA3C-947F16C1FA7C}"/>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grpSp>
        <p:nvGrpSpPr>
          <p:cNvPr id="7" name="Group 7">
            <a:extLst>
              <a:ext uri="{FF2B5EF4-FFF2-40B4-BE49-F238E27FC236}">
                <a16:creationId xmlns:a16="http://schemas.microsoft.com/office/drawing/2014/main" id="{CC8CA188-943F-9E15-A44B-9669A814F403}"/>
              </a:ext>
            </a:extLst>
          </p:cNvPr>
          <p:cNvGrpSpPr/>
          <p:nvPr/>
        </p:nvGrpSpPr>
        <p:grpSpPr>
          <a:xfrm>
            <a:off x="272710" y="9105900"/>
            <a:ext cx="4000284" cy="850043"/>
            <a:chOff x="0" y="0"/>
            <a:chExt cx="5333714" cy="1133391"/>
          </a:xfrm>
        </p:grpSpPr>
        <p:sp>
          <p:nvSpPr>
            <p:cNvPr id="8" name="Freeform 8">
              <a:extLst>
                <a:ext uri="{FF2B5EF4-FFF2-40B4-BE49-F238E27FC236}">
                  <a16:creationId xmlns:a16="http://schemas.microsoft.com/office/drawing/2014/main" id="{CFB3BFFA-0489-72E0-A39D-9E3312DAF003}"/>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9" name="TextBox 9">
              <a:extLst>
                <a:ext uri="{FF2B5EF4-FFF2-40B4-BE49-F238E27FC236}">
                  <a16:creationId xmlns:a16="http://schemas.microsoft.com/office/drawing/2014/main" id="{9D9ACA32-7679-4607-F39F-96D57CB65C73}"/>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
        <p:nvSpPr>
          <p:cNvPr id="10" name="TextBox 10">
            <a:extLst>
              <a:ext uri="{FF2B5EF4-FFF2-40B4-BE49-F238E27FC236}">
                <a16:creationId xmlns:a16="http://schemas.microsoft.com/office/drawing/2014/main" id="{99FC7A63-B893-F368-FDEF-987A4E2755D2}"/>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Requirements</a:t>
            </a:r>
          </a:p>
        </p:txBody>
      </p:sp>
      <p:sp>
        <p:nvSpPr>
          <p:cNvPr id="11" name="TextBox 11">
            <a:extLst>
              <a:ext uri="{FF2B5EF4-FFF2-40B4-BE49-F238E27FC236}">
                <a16:creationId xmlns:a16="http://schemas.microsoft.com/office/drawing/2014/main" id="{0787B889-910C-F3B8-D85D-D9D12C3970C8}"/>
              </a:ext>
            </a:extLst>
          </p:cNvPr>
          <p:cNvSpPr txBox="1"/>
          <p:nvPr/>
        </p:nvSpPr>
        <p:spPr>
          <a:xfrm>
            <a:off x="5447866" y="4051300"/>
            <a:ext cx="11712940" cy="4563110"/>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webapp must allow the users to post rich projects with details such as a title, short summary, rich-text description, and a list of relevant domains, media such as images, videos and PDFs. </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The project page must link the owner of the post and other team members. It should display the details, markdown description and any relevant media, they uploaded.</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Users must be able to comment on the project post with the functionality of users replying to comments and the ability to delete their comments.</a:t>
            </a:r>
          </a:p>
        </p:txBody>
      </p:sp>
      <p:sp>
        <p:nvSpPr>
          <p:cNvPr id="12" name="TextBox 12">
            <a:extLst>
              <a:ext uri="{FF2B5EF4-FFF2-40B4-BE49-F238E27FC236}">
                <a16:creationId xmlns:a16="http://schemas.microsoft.com/office/drawing/2014/main" id="{B4683F22-B862-CAFB-B067-AF3A9B88ACCC}"/>
              </a:ext>
            </a:extLst>
          </p:cNvPr>
          <p:cNvSpPr txBox="1"/>
          <p:nvPr/>
        </p:nvSpPr>
        <p:spPr>
          <a:xfrm>
            <a:off x="5447866" y="2476500"/>
            <a:ext cx="11712940" cy="679450"/>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Rich Project Showcase with Team members</a:t>
            </a:r>
          </a:p>
        </p:txBody>
      </p:sp>
    </p:spTree>
    <p:extLst>
      <p:ext uri="{BB962C8B-B14F-4D97-AF65-F5344CB8AC3E}">
        <p14:creationId xmlns:p14="http://schemas.microsoft.com/office/powerpoint/2010/main" val="3196949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2E50A-CE12-5960-5F4C-2329815BB5E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682A94-748B-D9F8-F3F4-987D00F2FADE}"/>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FD101C30-929B-CF24-0FD7-910ADE7693ED}"/>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69BB8F19-C431-5382-9FF4-3967CF04A5B2}"/>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470F2EC9-3273-701A-FF93-3D8CAE9C5542}"/>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3ACEE661-EDEE-CF12-54A2-40491FA5F109}"/>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Requirements</a:t>
            </a:r>
          </a:p>
        </p:txBody>
      </p:sp>
      <p:sp>
        <p:nvSpPr>
          <p:cNvPr id="11" name="TextBox 11">
            <a:extLst>
              <a:ext uri="{FF2B5EF4-FFF2-40B4-BE49-F238E27FC236}">
                <a16:creationId xmlns:a16="http://schemas.microsoft.com/office/drawing/2014/main" id="{A31061E0-5012-7E0A-D19B-755AC1BDF51D}"/>
              </a:ext>
            </a:extLst>
          </p:cNvPr>
          <p:cNvSpPr txBox="1"/>
          <p:nvPr/>
        </p:nvSpPr>
        <p:spPr>
          <a:xfrm>
            <a:off x="5447866" y="3700064"/>
            <a:ext cx="11712940" cy="5510611"/>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webapp must allow users to create structured recruitment posts for projects.</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This must include fields such as title, detailed description (markdown/plain-text), domains/tags, and prerequisites specifying required skills.</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The system should allow users to attach relevant media and external links to provide additional context for the recruitment.</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Users must be able to define eligibility constraints (such as allowed designations and departments) and add fellow recruiters to the post.</a:t>
            </a:r>
          </a:p>
        </p:txBody>
      </p:sp>
      <p:sp>
        <p:nvSpPr>
          <p:cNvPr id="12" name="TextBox 12">
            <a:extLst>
              <a:ext uri="{FF2B5EF4-FFF2-40B4-BE49-F238E27FC236}">
                <a16:creationId xmlns:a16="http://schemas.microsoft.com/office/drawing/2014/main" id="{C23CA59E-DECC-0744-6368-8A1D036AB957}"/>
              </a:ext>
            </a:extLst>
          </p:cNvPr>
          <p:cNvSpPr txBox="1"/>
          <p:nvPr/>
        </p:nvSpPr>
        <p:spPr>
          <a:xfrm>
            <a:off x="5447866" y="2476500"/>
            <a:ext cx="11712940" cy="679450"/>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Project-Based Recruitment system</a:t>
            </a:r>
          </a:p>
        </p:txBody>
      </p:sp>
      <p:grpSp>
        <p:nvGrpSpPr>
          <p:cNvPr id="6" name="Group 7">
            <a:extLst>
              <a:ext uri="{FF2B5EF4-FFF2-40B4-BE49-F238E27FC236}">
                <a16:creationId xmlns:a16="http://schemas.microsoft.com/office/drawing/2014/main" id="{CB1C6D06-C344-0669-D2EC-C497D06AC4FB}"/>
              </a:ext>
            </a:extLst>
          </p:cNvPr>
          <p:cNvGrpSpPr/>
          <p:nvPr/>
        </p:nvGrpSpPr>
        <p:grpSpPr>
          <a:xfrm>
            <a:off x="272710" y="9105900"/>
            <a:ext cx="4000284" cy="850043"/>
            <a:chOff x="0" y="0"/>
            <a:chExt cx="5333714" cy="1133391"/>
          </a:xfrm>
        </p:grpSpPr>
        <p:sp>
          <p:nvSpPr>
            <p:cNvPr id="13" name="Freeform 8">
              <a:extLst>
                <a:ext uri="{FF2B5EF4-FFF2-40B4-BE49-F238E27FC236}">
                  <a16:creationId xmlns:a16="http://schemas.microsoft.com/office/drawing/2014/main" id="{56E35CA5-226E-7C69-1AC6-ED6FB60CCCE6}"/>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4" name="TextBox 9">
              <a:extLst>
                <a:ext uri="{FF2B5EF4-FFF2-40B4-BE49-F238E27FC236}">
                  <a16:creationId xmlns:a16="http://schemas.microsoft.com/office/drawing/2014/main" id="{DEE85B74-DAA3-FAD5-55D9-18A1536EA353}"/>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98631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500"/>
                                        <p:tgtEl>
                                          <p:spTgt spid="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fade">
                                      <p:cBhvr>
                                        <p:cTn id="2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EFF2-FFA2-DBAE-1898-17A4604E976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F1C93E4-A2CE-A783-405B-A5629198CFE2}"/>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3CBC8C83-2A66-EB45-7BEC-1305549A87D4}"/>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627C0767-5840-2F9C-3C34-7BB14B8D879C}"/>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5CA7EDF6-E4AF-8E11-2F2A-9C36F1F4FB6A}"/>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B82A91E3-14A8-9806-8CE2-DB8673F6845F}"/>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Requirements</a:t>
            </a:r>
          </a:p>
        </p:txBody>
      </p:sp>
      <p:sp>
        <p:nvSpPr>
          <p:cNvPr id="11" name="TextBox 11">
            <a:extLst>
              <a:ext uri="{FF2B5EF4-FFF2-40B4-BE49-F238E27FC236}">
                <a16:creationId xmlns:a16="http://schemas.microsoft.com/office/drawing/2014/main" id="{66AD6F20-C2BB-241A-4CE6-695F48245652}"/>
              </a:ext>
            </a:extLst>
          </p:cNvPr>
          <p:cNvSpPr txBox="1"/>
          <p:nvPr/>
        </p:nvSpPr>
        <p:spPr>
          <a:xfrm>
            <a:off x="5447866" y="3390900"/>
            <a:ext cx="11712940" cy="5972276"/>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webapp must allow users to apply to recruitment posts and enable recruiters to manage the selection process.</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This must enable the users to submit applications to open recruitments, subject to eligibility constraints defined in the recruitment post.</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Recruiters must be able to view a list of applicants, access relevant applicant details, and take actions such as accepting or rejecting applications.</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The system should maintain the status of each application (e.g., pending, accepted, rejected) and notify users regarding updates to their application status.</a:t>
            </a:r>
          </a:p>
        </p:txBody>
      </p:sp>
      <p:sp>
        <p:nvSpPr>
          <p:cNvPr id="12" name="TextBox 12">
            <a:extLst>
              <a:ext uri="{FF2B5EF4-FFF2-40B4-BE49-F238E27FC236}">
                <a16:creationId xmlns:a16="http://schemas.microsoft.com/office/drawing/2014/main" id="{2C76766C-82A4-106A-6270-A84B97D26DC6}"/>
              </a:ext>
            </a:extLst>
          </p:cNvPr>
          <p:cNvSpPr txBox="1"/>
          <p:nvPr/>
        </p:nvSpPr>
        <p:spPr>
          <a:xfrm>
            <a:off x="5447866" y="2476500"/>
            <a:ext cx="11712940" cy="679450"/>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Application &amp; Selection Workflow</a:t>
            </a:r>
          </a:p>
        </p:txBody>
      </p:sp>
      <p:grpSp>
        <p:nvGrpSpPr>
          <p:cNvPr id="6" name="Group 7">
            <a:extLst>
              <a:ext uri="{FF2B5EF4-FFF2-40B4-BE49-F238E27FC236}">
                <a16:creationId xmlns:a16="http://schemas.microsoft.com/office/drawing/2014/main" id="{3BA873E4-7149-6FED-3CFF-D3F67F0693BB}"/>
              </a:ext>
            </a:extLst>
          </p:cNvPr>
          <p:cNvGrpSpPr/>
          <p:nvPr/>
        </p:nvGrpSpPr>
        <p:grpSpPr>
          <a:xfrm>
            <a:off x="272710" y="9105900"/>
            <a:ext cx="4000284" cy="850043"/>
            <a:chOff x="0" y="0"/>
            <a:chExt cx="5333714" cy="1133391"/>
          </a:xfrm>
        </p:grpSpPr>
        <p:sp>
          <p:nvSpPr>
            <p:cNvPr id="13" name="Freeform 8">
              <a:extLst>
                <a:ext uri="{FF2B5EF4-FFF2-40B4-BE49-F238E27FC236}">
                  <a16:creationId xmlns:a16="http://schemas.microsoft.com/office/drawing/2014/main" id="{D45C82B8-3739-376A-4AC8-5EBA9F2DB164}"/>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4" name="TextBox 9">
              <a:extLst>
                <a:ext uri="{FF2B5EF4-FFF2-40B4-BE49-F238E27FC236}">
                  <a16:creationId xmlns:a16="http://schemas.microsoft.com/office/drawing/2014/main" id="{028051A2-2668-8B51-F5E0-0AB275B986EF}"/>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117341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500"/>
                                        <p:tgtEl>
                                          <p:spTgt spid="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fade">
                                      <p:cBhvr>
                                        <p:cTn id="2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338CF-DD02-B7F1-2514-4A617751D6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8BEA16C-9127-ED2A-5628-73C48B1FA17E}"/>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8BBAB139-F74E-B4A2-BBCF-57CD45870762}"/>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42371B2B-CF35-6494-83D6-648F88114B87}"/>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0D4C91B3-2C6D-D0B4-F142-E1C817068850}"/>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15AF35E0-4C0F-87A6-E023-D376E489C7DA}"/>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Requirements</a:t>
            </a:r>
          </a:p>
        </p:txBody>
      </p:sp>
      <p:sp>
        <p:nvSpPr>
          <p:cNvPr id="11" name="TextBox 11">
            <a:extLst>
              <a:ext uri="{FF2B5EF4-FFF2-40B4-BE49-F238E27FC236}">
                <a16:creationId xmlns:a16="http://schemas.microsoft.com/office/drawing/2014/main" id="{9325BF24-11FB-2748-3582-B8216286A60E}"/>
              </a:ext>
            </a:extLst>
          </p:cNvPr>
          <p:cNvSpPr txBox="1"/>
          <p:nvPr/>
        </p:nvSpPr>
        <p:spPr>
          <a:xfrm>
            <a:off x="5447866" y="3390900"/>
            <a:ext cx="11712940" cy="5972276"/>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webapp must provide a unified search and discovery system for projects, recruitments, and users.</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This must include a global search bar that allows users to query the platform using keywords or phrases, with support for relevant result retrieval.</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The system should categorize results into projects, recruitments, and users, displaying them in a structured, card-based layout with key information such as titles, descriptions, and user details.</a:t>
            </a:r>
          </a:p>
          <a:p>
            <a:pPr algn="just">
              <a:lnSpc>
                <a:spcPts val="3640"/>
              </a:lnSpc>
            </a:pPr>
            <a:endParaRPr lang="en-US" sz="2600" dirty="0">
              <a:solidFill>
                <a:srgbClr val="000000"/>
              </a:solidFill>
              <a:latin typeface="Canva Sans"/>
              <a:ea typeface="Canva Sans"/>
              <a:cs typeface="Canva Sans"/>
              <a:sym typeface="Canva Sans"/>
            </a:endParaRPr>
          </a:p>
          <a:p>
            <a:pPr algn="just">
              <a:lnSpc>
                <a:spcPts val="3640"/>
              </a:lnSpc>
            </a:pPr>
            <a:r>
              <a:rPr lang="en-US" sz="2600" dirty="0">
                <a:solidFill>
                  <a:srgbClr val="000000"/>
                </a:solidFill>
                <a:latin typeface="Canva Sans"/>
                <a:ea typeface="Canva Sans"/>
                <a:cs typeface="Canva Sans"/>
                <a:sym typeface="Canva Sans"/>
              </a:rPr>
              <a:t>Users must be able to refine search results using filters such as domains, skills, designations, and departments to improve relevance.</a:t>
            </a:r>
          </a:p>
        </p:txBody>
      </p:sp>
      <p:sp>
        <p:nvSpPr>
          <p:cNvPr id="12" name="TextBox 12">
            <a:extLst>
              <a:ext uri="{FF2B5EF4-FFF2-40B4-BE49-F238E27FC236}">
                <a16:creationId xmlns:a16="http://schemas.microsoft.com/office/drawing/2014/main" id="{9442C4EB-16F0-57B7-2664-DFBD2E0D318B}"/>
              </a:ext>
            </a:extLst>
          </p:cNvPr>
          <p:cNvSpPr txBox="1"/>
          <p:nvPr/>
        </p:nvSpPr>
        <p:spPr>
          <a:xfrm>
            <a:off x="5447866" y="2476500"/>
            <a:ext cx="11712940" cy="679450"/>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Search and Discovery System</a:t>
            </a:r>
          </a:p>
        </p:txBody>
      </p:sp>
      <p:grpSp>
        <p:nvGrpSpPr>
          <p:cNvPr id="6" name="Group 7">
            <a:extLst>
              <a:ext uri="{FF2B5EF4-FFF2-40B4-BE49-F238E27FC236}">
                <a16:creationId xmlns:a16="http://schemas.microsoft.com/office/drawing/2014/main" id="{2938EECB-E4B6-97A4-EEDE-9017A1D0B508}"/>
              </a:ext>
            </a:extLst>
          </p:cNvPr>
          <p:cNvGrpSpPr/>
          <p:nvPr/>
        </p:nvGrpSpPr>
        <p:grpSpPr>
          <a:xfrm>
            <a:off x="272710" y="9105900"/>
            <a:ext cx="4000284" cy="850043"/>
            <a:chOff x="0" y="0"/>
            <a:chExt cx="5333714" cy="1133391"/>
          </a:xfrm>
        </p:grpSpPr>
        <p:sp>
          <p:nvSpPr>
            <p:cNvPr id="13" name="Freeform 8">
              <a:extLst>
                <a:ext uri="{FF2B5EF4-FFF2-40B4-BE49-F238E27FC236}">
                  <a16:creationId xmlns:a16="http://schemas.microsoft.com/office/drawing/2014/main" id="{5871587E-D6A3-EDB7-C828-242CDFC08FC6}"/>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4" name="TextBox 9">
              <a:extLst>
                <a:ext uri="{FF2B5EF4-FFF2-40B4-BE49-F238E27FC236}">
                  <a16:creationId xmlns:a16="http://schemas.microsoft.com/office/drawing/2014/main" id="{9345996F-8B4E-3FD8-6FAD-B476324C2C9F}"/>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957181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500"/>
                                        <p:tgtEl>
                                          <p:spTgt spid="1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6" end="6"/>
                                            </p:txEl>
                                          </p:spTgt>
                                        </p:tgtEl>
                                        <p:attrNameLst>
                                          <p:attrName>style.visibility</p:attrName>
                                        </p:attrNameLst>
                                      </p:cBhvr>
                                      <p:to>
                                        <p:strVal val="visible"/>
                                      </p:to>
                                    </p:set>
                                    <p:animEffect transition="in" filter="fade">
                                      <p:cBhvr>
                                        <p:cTn id="27"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1DE7C-A477-9517-37A7-D1148CC89AB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1E5B6DE-2446-7CC8-7A3F-E4D0320F1566}"/>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D56417CC-0B8C-381A-9E62-605C7484C904}"/>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8D7978D0-3E45-60DA-13F6-F712F8B68DD7}"/>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39E6040B-1D9C-C19C-0E81-47E1756F0AA1}"/>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85DF6FC2-91AF-0665-F3AB-E790037634ED}"/>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Tech Stack</a:t>
            </a:r>
          </a:p>
        </p:txBody>
      </p:sp>
      <p:sp>
        <p:nvSpPr>
          <p:cNvPr id="13" name="TextBox 12">
            <a:extLst>
              <a:ext uri="{FF2B5EF4-FFF2-40B4-BE49-F238E27FC236}">
                <a16:creationId xmlns:a16="http://schemas.microsoft.com/office/drawing/2014/main" id="{8466B8CF-E52C-3FC1-FC60-05D3FD30FC94}"/>
              </a:ext>
            </a:extLst>
          </p:cNvPr>
          <p:cNvSpPr txBox="1"/>
          <p:nvPr/>
        </p:nvSpPr>
        <p:spPr>
          <a:xfrm>
            <a:off x="5334000" y="2476500"/>
            <a:ext cx="8839200" cy="6093976"/>
          </a:xfrm>
          <a:prstGeom prst="rect">
            <a:avLst/>
          </a:prstGeom>
          <a:noFill/>
        </p:spPr>
        <p:txBody>
          <a:bodyPr wrap="square" rtlCol="0">
            <a:spAutoFit/>
          </a:bodyPr>
          <a:lstStyle/>
          <a:p>
            <a:pPr algn="just"/>
            <a:r>
              <a:rPr lang="en-IN" sz="2600" b="1" dirty="0">
                <a:latin typeface="Canva Sans" panose="020B0604020202020204" charset="0"/>
              </a:rPr>
              <a:t>Frontend</a:t>
            </a:r>
            <a:r>
              <a:rPr lang="en-IN" sz="2600" dirty="0">
                <a:latin typeface="Canva Sans" panose="020B0604020202020204" charset="0"/>
              </a:rPr>
              <a:t> was created using </a:t>
            </a:r>
            <a:r>
              <a:rPr lang="en-IN" sz="2600" b="1" dirty="0">
                <a:latin typeface="Canva Sans" panose="020B0604020202020204" charset="0"/>
              </a:rPr>
              <a:t>Next.js</a:t>
            </a:r>
            <a:r>
              <a:rPr lang="en-IN" sz="2600" dirty="0">
                <a:latin typeface="Canva Sans" panose="020B0604020202020204" charset="0"/>
              </a:rPr>
              <a:t> and </a:t>
            </a:r>
            <a:r>
              <a:rPr lang="en-IN" sz="2600" b="1" dirty="0">
                <a:latin typeface="Canva Sans" panose="020B0604020202020204" charset="0"/>
              </a:rPr>
              <a:t>React</a:t>
            </a:r>
            <a:r>
              <a:rPr lang="en-IN" sz="2600" dirty="0">
                <a:latin typeface="Canva Sans" panose="020B0604020202020204" charset="0"/>
              </a:rPr>
              <a:t> to create a smooth, interactive user experience. We also used </a:t>
            </a:r>
            <a:r>
              <a:rPr lang="en-IN" sz="2600" b="1" dirty="0">
                <a:latin typeface="Canva Sans" panose="020B0604020202020204" charset="0"/>
              </a:rPr>
              <a:t>Tailwind CSS</a:t>
            </a:r>
            <a:r>
              <a:rPr lang="en-IN" sz="2600" dirty="0">
                <a:latin typeface="Canva Sans" panose="020B0604020202020204" charset="0"/>
              </a:rPr>
              <a:t> for styling to ensure that the platform looks clean and responsive on all devices.</a:t>
            </a:r>
          </a:p>
          <a:p>
            <a:pPr algn="just"/>
            <a:endParaRPr lang="en-IN" sz="2600" dirty="0">
              <a:latin typeface="Canva Sans" panose="020B0604020202020204" charset="0"/>
            </a:endParaRPr>
          </a:p>
          <a:p>
            <a:pPr algn="just"/>
            <a:r>
              <a:rPr lang="en-IN" sz="2600" b="1" dirty="0">
                <a:latin typeface="Canva Sans" panose="020B0604020202020204" charset="0"/>
              </a:rPr>
              <a:t>Backend</a:t>
            </a:r>
            <a:r>
              <a:rPr lang="en-IN" sz="2600" dirty="0">
                <a:latin typeface="Canva Sans" panose="020B0604020202020204" charset="0"/>
              </a:rPr>
              <a:t> was built using </a:t>
            </a:r>
            <a:r>
              <a:rPr lang="en-IN" sz="2600" b="1" dirty="0">
                <a:latin typeface="Canva Sans" panose="020B0604020202020204" charset="0"/>
              </a:rPr>
              <a:t>Python</a:t>
            </a:r>
            <a:r>
              <a:rPr lang="en-IN" sz="2600" dirty="0">
                <a:latin typeface="Canva Sans" panose="020B0604020202020204" charset="0"/>
              </a:rPr>
              <a:t>. We used the </a:t>
            </a:r>
            <a:r>
              <a:rPr lang="en-IN" sz="2600" b="1" dirty="0" err="1">
                <a:latin typeface="Canva Sans" panose="020B0604020202020204" charset="0"/>
              </a:rPr>
              <a:t>FastAPI</a:t>
            </a:r>
            <a:r>
              <a:rPr lang="en-IN" sz="2600" b="1" dirty="0">
                <a:latin typeface="Canva Sans" panose="020B0604020202020204" charset="0"/>
              </a:rPr>
              <a:t> </a:t>
            </a:r>
            <a:r>
              <a:rPr lang="en-IN" sz="2600" dirty="0">
                <a:latin typeface="Canva Sans" panose="020B0604020202020204" charset="0"/>
              </a:rPr>
              <a:t>framework to create quick and efficient APIs that handle user requests, process logins, and securely send OTP Emails.</a:t>
            </a:r>
          </a:p>
          <a:p>
            <a:pPr algn="just"/>
            <a:endParaRPr lang="en-IN" sz="2600" dirty="0">
              <a:latin typeface="Canva Sans" panose="020B0604020202020204" charset="0"/>
            </a:endParaRPr>
          </a:p>
          <a:p>
            <a:pPr algn="just"/>
            <a:r>
              <a:rPr lang="en-IN" sz="2600" b="1" dirty="0">
                <a:latin typeface="Canva Sans" panose="020B0604020202020204" charset="0"/>
              </a:rPr>
              <a:t>PostgreSQL</a:t>
            </a:r>
            <a:r>
              <a:rPr lang="en-IN" sz="2600" dirty="0">
                <a:latin typeface="Canva Sans" panose="020B0604020202020204" charset="0"/>
              </a:rPr>
              <a:t> was used to handle out </a:t>
            </a:r>
            <a:r>
              <a:rPr lang="en-IN" sz="2600" b="1" dirty="0">
                <a:latin typeface="Canva Sans" panose="020B0604020202020204" charset="0"/>
              </a:rPr>
              <a:t>database</a:t>
            </a:r>
            <a:r>
              <a:rPr lang="en-IN" sz="2600" dirty="0">
                <a:latin typeface="Canva Sans" panose="020B0604020202020204" charset="0"/>
              </a:rPr>
              <a:t>. Since our platform relies heavily on connections (such as linking users to their projects, recruitments and applications), this relational database made it easy to store and search data safely.</a:t>
            </a:r>
          </a:p>
        </p:txBody>
      </p:sp>
      <p:pic>
        <p:nvPicPr>
          <p:cNvPr id="22" name="Picture 21">
            <a:extLst>
              <a:ext uri="{FF2B5EF4-FFF2-40B4-BE49-F238E27FC236}">
                <a16:creationId xmlns:a16="http://schemas.microsoft.com/office/drawing/2014/main" id="{978E9DD7-04C8-D1ED-44E9-C516EDC683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630400" y="2392444"/>
            <a:ext cx="2985796" cy="1828800"/>
          </a:xfrm>
          <a:prstGeom prst="rect">
            <a:avLst/>
          </a:prstGeom>
        </p:spPr>
      </p:pic>
      <p:pic>
        <p:nvPicPr>
          <p:cNvPr id="24" name="Picture 23">
            <a:extLst>
              <a:ext uri="{FF2B5EF4-FFF2-40B4-BE49-F238E27FC236}">
                <a16:creationId xmlns:a16="http://schemas.microsoft.com/office/drawing/2014/main" id="{65FACD79-3783-436B-3A6C-B89102AD3F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407242" y="4507803"/>
            <a:ext cx="3432112" cy="1307775"/>
          </a:xfrm>
          <a:prstGeom prst="rect">
            <a:avLst/>
          </a:prstGeom>
        </p:spPr>
      </p:pic>
      <p:pic>
        <p:nvPicPr>
          <p:cNvPr id="26" name="Picture 25">
            <a:extLst>
              <a:ext uri="{FF2B5EF4-FFF2-40B4-BE49-F238E27FC236}">
                <a16:creationId xmlns:a16="http://schemas.microsoft.com/office/drawing/2014/main" id="{018E216F-5FAC-D332-FE6C-9B9ADB7D78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43123" y="6083946"/>
            <a:ext cx="2560350" cy="2840170"/>
          </a:xfrm>
          <a:prstGeom prst="rect">
            <a:avLst/>
          </a:prstGeom>
        </p:spPr>
      </p:pic>
      <p:grpSp>
        <p:nvGrpSpPr>
          <p:cNvPr id="6" name="Group 7">
            <a:extLst>
              <a:ext uri="{FF2B5EF4-FFF2-40B4-BE49-F238E27FC236}">
                <a16:creationId xmlns:a16="http://schemas.microsoft.com/office/drawing/2014/main" id="{F885F5CA-3D36-216D-B0EF-FC759B8D1E61}"/>
              </a:ext>
            </a:extLst>
          </p:cNvPr>
          <p:cNvGrpSpPr/>
          <p:nvPr/>
        </p:nvGrpSpPr>
        <p:grpSpPr>
          <a:xfrm>
            <a:off x="272710" y="9105900"/>
            <a:ext cx="4000284" cy="850043"/>
            <a:chOff x="0" y="0"/>
            <a:chExt cx="5333714" cy="1133391"/>
          </a:xfrm>
        </p:grpSpPr>
        <p:sp>
          <p:nvSpPr>
            <p:cNvPr id="11" name="Freeform 8">
              <a:extLst>
                <a:ext uri="{FF2B5EF4-FFF2-40B4-BE49-F238E27FC236}">
                  <a16:creationId xmlns:a16="http://schemas.microsoft.com/office/drawing/2014/main" id="{D2F2F6F1-4E17-6CC3-4C71-F0B7BF224C73}"/>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6"/>
              <a:stretch>
                <a:fillRect t="-3352" b="-3352"/>
              </a:stretch>
            </a:blipFill>
          </p:spPr>
        </p:sp>
        <p:sp>
          <p:nvSpPr>
            <p:cNvPr id="12" name="TextBox 9">
              <a:extLst>
                <a:ext uri="{FF2B5EF4-FFF2-40B4-BE49-F238E27FC236}">
                  <a16:creationId xmlns:a16="http://schemas.microsoft.com/office/drawing/2014/main" id="{520625C3-08A9-A28C-59A1-36A4DAFBF1A7}"/>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1760306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500"/>
                                        <p:tgtEl>
                                          <p:spTgt spid="13">
                                            <p:txEl>
                                              <p:pRg st="0" end="0"/>
                                            </p:txEl>
                                          </p:spTgt>
                                        </p:tgtEl>
                                      </p:cBhvr>
                                    </p:animEffect>
                                  </p:childTnLst>
                                </p:cTn>
                              </p:par>
                              <p:par>
                                <p:cTn id="13" presetID="2" presetClass="entr" presetSubtype="2"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1+#ppt_w/2"/>
                                          </p:val>
                                        </p:tav>
                                        <p:tav tm="100000">
                                          <p:val>
                                            <p:strVal val="#ppt_x"/>
                                          </p:val>
                                        </p:tav>
                                      </p:tavLst>
                                    </p:anim>
                                    <p:anim calcmode="lin" valueType="num">
                                      <p:cBhvr additive="base">
                                        <p:cTn id="1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fade">
                                      <p:cBhvr>
                                        <p:cTn id="21" dur="500"/>
                                        <p:tgtEl>
                                          <p:spTgt spid="13">
                                            <p:txEl>
                                              <p:pRg st="2" end="2"/>
                                            </p:txEl>
                                          </p:spTgt>
                                        </p:tgtEl>
                                      </p:cBhvr>
                                    </p:animEffect>
                                  </p:childTnLst>
                                </p:cTn>
                              </p:par>
                              <p:par>
                                <p:cTn id="22" presetID="2" presetClass="entr" presetSubtype="2"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1+#ppt_w/2"/>
                                          </p:val>
                                        </p:tav>
                                        <p:tav tm="100000">
                                          <p:val>
                                            <p:strVal val="#ppt_x"/>
                                          </p:val>
                                        </p:tav>
                                      </p:tavLst>
                                    </p:anim>
                                    <p:anim calcmode="lin" valueType="num">
                                      <p:cBhvr additive="base">
                                        <p:cTn id="25"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xEl>
                                              <p:pRg st="4" end="4"/>
                                            </p:txEl>
                                          </p:spTgt>
                                        </p:tgtEl>
                                        <p:attrNameLst>
                                          <p:attrName>style.visibility</p:attrName>
                                        </p:attrNameLst>
                                      </p:cBhvr>
                                      <p:to>
                                        <p:strVal val="visible"/>
                                      </p:to>
                                    </p:set>
                                    <p:animEffect transition="in" filter="fade">
                                      <p:cBhvr>
                                        <p:cTn id="30" dur="500"/>
                                        <p:tgtEl>
                                          <p:spTgt spid="13">
                                            <p:txEl>
                                              <p:pRg st="4" end="4"/>
                                            </p:txEl>
                                          </p:spTgt>
                                        </p:tgtEl>
                                      </p:cBhvr>
                                    </p:animEffect>
                                  </p:childTnLst>
                                </p:cTn>
                              </p:par>
                              <p:par>
                                <p:cTn id="31" presetID="2" presetClass="entr" presetSubtype="2"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1+#ppt_w/2"/>
                                          </p:val>
                                        </p:tav>
                                        <p:tav tm="100000">
                                          <p:val>
                                            <p:strVal val="#ppt_x"/>
                                          </p:val>
                                        </p:tav>
                                      </p:tavLst>
                                    </p:anim>
                                    <p:anim calcmode="lin" valueType="num">
                                      <p:cBhvr additive="base">
                                        <p:cTn id="34"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6634E-0402-8BA3-0687-1B7DDE21FFB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7D859CB-3F1E-3CC2-5674-C538C3F37550}"/>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7CD1CD2E-92BB-5247-FD54-7D39989270F5}"/>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6DE673DB-6FF0-06BA-220F-3E425161EE7B}"/>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5A5D4291-D6A7-9EE8-791F-28665C98CCB2}"/>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CE59F8D3-DADA-3FB1-7CA9-221C91F120AB}"/>
              </a:ext>
            </a:extLst>
          </p:cNvPr>
          <p:cNvSpPr txBox="1"/>
          <p:nvPr/>
        </p:nvSpPr>
        <p:spPr>
          <a:xfrm>
            <a:off x="5867400" y="4495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DEMO TIME</a:t>
            </a:r>
          </a:p>
        </p:txBody>
      </p:sp>
      <p:grpSp>
        <p:nvGrpSpPr>
          <p:cNvPr id="6" name="Group 7">
            <a:extLst>
              <a:ext uri="{FF2B5EF4-FFF2-40B4-BE49-F238E27FC236}">
                <a16:creationId xmlns:a16="http://schemas.microsoft.com/office/drawing/2014/main" id="{31796CD7-C62D-A6A3-04E0-AEEB22DD697B}"/>
              </a:ext>
            </a:extLst>
          </p:cNvPr>
          <p:cNvGrpSpPr/>
          <p:nvPr/>
        </p:nvGrpSpPr>
        <p:grpSpPr>
          <a:xfrm>
            <a:off x="272710" y="9105900"/>
            <a:ext cx="4000284" cy="850043"/>
            <a:chOff x="0" y="0"/>
            <a:chExt cx="5333714" cy="1133391"/>
          </a:xfrm>
        </p:grpSpPr>
        <p:sp>
          <p:nvSpPr>
            <p:cNvPr id="11" name="Freeform 8">
              <a:extLst>
                <a:ext uri="{FF2B5EF4-FFF2-40B4-BE49-F238E27FC236}">
                  <a16:creationId xmlns:a16="http://schemas.microsoft.com/office/drawing/2014/main" id="{1CD66A13-601A-05C0-A5EB-C5A531929863}"/>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2" name="TextBox 9">
              <a:extLst>
                <a:ext uri="{FF2B5EF4-FFF2-40B4-BE49-F238E27FC236}">
                  <a16:creationId xmlns:a16="http://schemas.microsoft.com/office/drawing/2014/main" id="{14FF6748-4204-0D2D-B5F1-1EA0300A54BF}"/>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614096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3A7ED-E160-68F4-6A9F-F4BBD73C7B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1E1A872-AE71-2E62-7A25-0ADC9620D098}"/>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03E4675A-3945-FC9B-EE0C-22D8F7A9E469}"/>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6DA35624-9DD2-8A51-9D2A-ABCC113637DE}"/>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B6655D39-A6F0-007F-AB80-04302F40EDB7}"/>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CCCAEBEB-4442-E10F-B0F5-E66094B58E13}"/>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Future Plans</a:t>
            </a:r>
          </a:p>
        </p:txBody>
      </p:sp>
      <p:sp>
        <p:nvSpPr>
          <p:cNvPr id="6" name="TextBox 11">
            <a:extLst>
              <a:ext uri="{FF2B5EF4-FFF2-40B4-BE49-F238E27FC236}">
                <a16:creationId xmlns:a16="http://schemas.microsoft.com/office/drawing/2014/main" id="{E5377BAC-69A3-D982-5356-9FDCD10CE76D}"/>
              </a:ext>
            </a:extLst>
          </p:cNvPr>
          <p:cNvSpPr txBox="1"/>
          <p:nvPr/>
        </p:nvSpPr>
        <p:spPr>
          <a:xfrm>
            <a:off x="5486400" y="3223914"/>
            <a:ext cx="11712940" cy="2740622"/>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Any member of the team shall be able to change the visibility of project and recruitments to be private or public. Only public projects and recruitments will be displayed on the homepage feed, in search results. When seeing another user’s profile, only the posts that the current user is a part of or are public will be visible. On one’s own profile, the user will be able to view all the posts, public or private.</a:t>
            </a:r>
          </a:p>
        </p:txBody>
      </p:sp>
      <p:sp>
        <p:nvSpPr>
          <p:cNvPr id="11" name="TextBox 12">
            <a:extLst>
              <a:ext uri="{FF2B5EF4-FFF2-40B4-BE49-F238E27FC236}">
                <a16:creationId xmlns:a16="http://schemas.microsoft.com/office/drawing/2014/main" id="{882CA1BE-FBF7-3A70-4151-089B296EB3EF}"/>
              </a:ext>
            </a:extLst>
          </p:cNvPr>
          <p:cNvSpPr txBox="1"/>
          <p:nvPr/>
        </p:nvSpPr>
        <p:spPr>
          <a:xfrm>
            <a:off x="5486400" y="2324100"/>
            <a:ext cx="11712940" cy="671018"/>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Adding visibility of posts (public / private)</a:t>
            </a:r>
          </a:p>
        </p:txBody>
      </p:sp>
      <p:sp>
        <p:nvSpPr>
          <p:cNvPr id="12" name="TextBox 11">
            <a:extLst>
              <a:ext uri="{FF2B5EF4-FFF2-40B4-BE49-F238E27FC236}">
                <a16:creationId xmlns:a16="http://schemas.microsoft.com/office/drawing/2014/main" id="{656F0F95-610E-9A64-1DC5-5B2AB36640E9}"/>
              </a:ext>
            </a:extLst>
          </p:cNvPr>
          <p:cNvSpPr txBox="1"/>
          <p:nvPr/>
        </p:nvSpPr>
        <p:spPr>
          <a:xfrm>
            <a:off x="5486400" y="7093146"/>
            <a:ext cx="11712940" cy="1817292"/>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users will be able to attach their curated CVs and related remarks with their applications to recruitments. The recruiters would then be able to (in theory) make more informed decisions regarding acceptance and rejection of applicants.</a:t>
            </a:r>
          </a:p>
        </p:txBody>
      </p:sp>
      <p:sp>
        <p:nvSpPr>
          <p:cNvPr id="14" name="TextBox 12">
            <a:extLst>
              <a:ext uri="{FF2B5EF4-FFF2-40B4-BE49-F238E27FC236}">
                <a16:creationId xmlns:a16="http://schemas.microsoft.com/office/drawing/2014/main" id="{B7196243-DAAE-1DC4-7D39-267F518AC490}"/>
              </a:ext>
            </a:extLst>
          </p:cNvPr>
          <p:cNvSpPr txBox="1"/>
          <p:nvPr/>
        </p:nvSpPr>
        <p:spPr>
          <a:xfrm>
            <a:off x="5486400" y="6193332"/>
            <a:ext cx="11712940" cy="671018"/>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More information linked with applications</a:t>
            </a:r>
          </a:p>
        </p:txBody>
      </p:sp>
      <p:grpSp>
        <p:nvGrpSpPr>
          <p:cNvPr id="13" name="Group 7">
            <a:extLst>
              <a:ext uri="{FF2B5EF4-FFF2-40B4-BE49-F238E27FC236}">
                <a16:creationId xmlns:a16="http://schemas.microsoft.com/office/drawing/2014/main" id="{D16EED63-7D90-F372-A801-7C785CE10FAC}"/>
              </a:ext>
            </a:extLst>
          </p:cNvPr>
          <p:cNvGrpSpPr/>
          <p:nvPr/>
        </p:nvGrpSpPr>
        <p:grpSpPr>
          <a:xfrm>
            <a:off x="272710" y="9105900"/>
            <a:ext cx="4000284" cy="850043"/>
            <a:chOff x="0" y="0"/>
            <a:chExt cx="5333714" cy="1133391"/>
          </a:xfrm>
        </p:grpSpPr>
        <p:sp>
          <p:nvSpPr>
            <p:cNvPr id="15" name="Freeform 8">
              <a:extLst>
                <a:ext uri="{FF2B5EF4-FFF2-40B4-BE49-F238E27FC236}">
                  <a16:creationId xmlns:a16="http://schemas.microsoft.com/office/drawing/2014/main" id="{616D80BC-ECD9-1F0F-DFD0-7AA4F86AB1A2}"/>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6" name="TextBox 9">
              <a:extLst>
                <a:ext uri="{FF2B5EF4-FFF2-40B4-BE49-F238E27FC236}">
                  <a16:creationId xmlns:a16="http://schemas.microsoft.com/office/drawing/2014/main" id="{A9740662-0A8F-C6E1-C4D4-24AEBEDD295E}"/>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356319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C9FF5-EA5B-15D2-5E40-D52B3BEF94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3475ECC-1DED-5F6F-9FCD-64C8F971F9A1}"/>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B2476DB0-310B-B30F-5B08-8EC80D1A5FFE}"/>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F2D69242-17ED-DA43-B05F-AB16523CA702}"/>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B12203D0-01EE-A341-A52D-8506213E3AD3}"/>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AA94F325-83A4-5DE0-D2C9-306C8B383890}"/>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Future Plans</a:t>
            </a:r>
          </a:p>
        </p:txBody>
      </p:sp>
      <p:sp>
        <p:nvSpPr>
          <p:cNvPr id="6" name="TextBox 11">
            <a:extLst>
              <a:ext uri="{FF2B5EF4-FFF2-40B4-BE49-F238E27FC236}">
                <a16:creationId xmlns:a16="http://schemas.microsoft.com/office/drawing/2014/main" id="{5DF10AE9-2C34-C5A8-3C48-F2F1A650F6CB}"/>
              </a:ext>
            </a:extLst>
          </p:cNvPr>
          <p:cNvSpPr txBox="1"/>
          <p:nvPr/>
        </p:nvSpPr>
        <p:spPr>
          <a:xfrm>
            <a:off x="5486400" y="2587623"/>
            <a:ext cx="11712940" cy="3663952"/>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Instead of evaluating applicants on the basis of their profiles, the recruiters will also have the option to add tests for recruitments. When applying, the applicant will be prompted to take a test (objective / coding) designed by the recruiters. This will require integrating a test environment with the platform. The candidates who could not achieve a score more than a benchmark set by the recruiters, would be auto-rejected. The qualified candidates would be further evaluated by the recruiters.</a:t>
            </a:r>
          </a:p>
        </p:txBody>
      </p:sp>
      <p:sp>
        <p:nvSpPr>
          <p:cNvPr id="11" name="TextBox 12">
            <a:extLst>
              <a:ext uri="{FF2B5EF4-FFF2-40B4-BE49-F238E27FC236}">
                <a16:creationId xmlns:a16="http://schemas.microsoft.com/office/drawing/2014/main" id="{5EBCAB0E-8A91-D3A8-E052-91E8A9EDE38B}"/>
              </a:ext>
            </a:extLst>
          </p:cNvPr>
          <p:cNvSpPr txBox="1"/>
          <p:nvPr/>
        </p:nvSpPr>
        <p:spPr>
          <a:xfrm>
            <a:off x="5486400" y="1687809"/>
            <a:ext cx="11712940" cy="671018"/>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Recruitment Tests</a:t>
            </a:r>
          </a:p>
        </p:txBody>
      </p:sp>
      <p:sp>
        <p:nvSpPr>
          <p:cNvPr id="12" name="TextBox 11">
            <a:extLst>
              <a:ext uri="{FF2B5EF4-FFF2-40B4-BE49-F238E27FC236}">
                <a16:creationId xmlns:a16="http://schemas.microsoft.com/office/drawing/2014/main" id="{2C0B224E-BB4F-7ABD-501B-749D19C53C91}"/>
              </a:ext>
            </a:extLst>
          </p:cNvPr>
          <p:cNvSpPr txBox="1"/>
          <p:nvPr/>
        </p:nvSpPr>
        <p:spPr>
          <a:xfrm>
            <a:off x="5486400" y="7285780"/>
            <a:ext cx="11712940" cy="1817292"/>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User profiles will be verified by some super user, against their data available in the IIT Kanpur databases. This needs to be done to make sure that a user is not pretending to be someone they’re not or have false credentials in their profiles.</a:t>
            </a:r>
          </a:p>
        </p:txBody>
      </p:sp>
      <p:sp>
        <p:nvSpPr>
          <p:cNvPr id="14" name="TextBox 12">
            <a:extLst>
              <a:ext uri="{FF2B5EF4-FFF2-40B4-BE49-F238E27FC236}">
                <a16:creationId xmlns:a16="http://schemas.microsoft.com/office/drawing/2014/main" id="{4BBEDBD0-2738-378F-F7FD-022333073F63}"/>
              </a:ext>
            </a:extLst>
          </p:cNvPr>
          <p:cNvSpPr txBox="1"/>
          <p:nvPr/>
        </p:nvSpPr>
        <p:spPr>
          <a:xfrm>
            <a:off x="5486400" y="6385966"/>
            <a:ext cx="11712940" cy="671018"/>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Credential verification of user profiles</a:t>
            </a:r>
          </a:p>
        </p:txBody>
      </p:sp>
      <p:grpSp>
        <p:nvGrpSpPr>
          <p:cNvPr id="13" name="Group 7">
            <a:extLst>
              <a:ext uri="{FF2B5EF4-FFF2-40B4-BE49-F238E27FC236}">
                <a16:creationId xmlns:a16="http://schemas.microsoft.com/office/drawing/2014/main" id="{78D441CC-FFFC-077C-D65F-DDA0DCD2714B}"/>
              </a:ext>
            </a:extLst>
          </p:cNvPr>
          <p:cNvGrpSpPr/>
          <p:nvPr/>
        </p:nvGrpSpPr>
        <p:grpSpPr>
          <a:xfrm>
            <a:off x="272710" y="9105900"/>
            <a:ext cx="4000284" cy="850043"/>
            <a:chOff x="0" y="0"/>
            <a:chExt cx="5333714" cy="1133391"/>
          </a:xfrm>
        </p:grpSpPr>
        <p:sp>
          <p:nvSpPr>
            <p:cNvPr id="15" name="Freeform 8">
              <a:extLst>
                <a:ext uri="{FF2B5EF4-FFF2-40B4-BE49-F238E27FC236}">
                  <a16:creationId xmlns:a16="http://schemas.microsoft.com/office/drawing/2014/main" id="{788E9506-7690-AF73-6767-0229C07FB755}"/>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6" name="TextBox 9">
              <a:extLst>
                <a:ext uri="{FF2B5EF4-FFF2-40B4-BE49-F238E27FC236}">
                  <a16:creationId xmlns:a16="http://schemas.microsoft.com/office/drawing/2014/main" id="{2A8EE1E5-B0E3-60BE-6866-DA0110238E7B}"/>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3419873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98BD9-54C3-B31F-8185-8D95B068954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E863060-FDE3-11CF-DDD4-290598AC130C}"/>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E90DEE98-EB5F-5F64-AAC1-EE333102B601}"/>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255584C2-676F-B2FE-905C-B0B0A3F92B7A}"/>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A2FB9794-FB27-5587-A81B-8C6069A3A732}"/>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9F354993-3504-BD56-F417-C38769E5FE2A}"/>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Future Plans</a:t>
            </a:r>
          </a:p>
        </p:txBody>
      </p:sp>
      <p:sp>
        <p:nvSpPr>
          <p:cNvPr id="6" name="TextBox 11">
            <a:extLst>
              <a:ext uri="{FF2B5EF4-FFF2-40B4-BE49-F238E27FC236}">
                <a16:creationId xmlns:a16="http://schemas.microsoft.com/office/drawing/2014/main" id="{914871E3-BE87-8FA9-3540-116A9C2D0A3B}"/>
              </a:ext>
            </a:extLst>
          </p:cNvPr>
          <p:cNvSpPr txBox="1"/>
          <p:nvPr/>
        </p:nvSpPr>
        <p:spPr>
          <a:xfrm>
            <a:off x="5486400" y="6407346"/>
            <a:ext cx="11712940" cy="2278957"/>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Right now, SPO requires verification from different institute clubs / professors in order to verify whether a project done by a student </a:t>
            </a:r>
            <a:r>
              <a:rPr lang="en-US" sz="2600">
                <a:solidFill>
                  <a:srgbClr val="000000"/>
                </a:solidFill>
                <a:latin typeface="Canva Sans"/>
                <a:ea typeface="Canva Sans"/>
                <a:cs typeface="Canva Sans"/>
                <a:sym typeface="Canva Sans"/>
              </a:rPr>
              <a:t>is legitimate. </a:t>
            </a:r>
            <a:r>
              <a:rPr lang="en-US" sz="2600" dirty="0">
                <a:solidFill>
                  <a:srgbClr val="000000"/>
                </a:solidFill>
                <a:latin typeface="Canva Sans"/>
                <a:ea typeface="Canva Sans"/>
                <a:cs typeface="Canva Sans"/>
                <a:sym typeface="Canva Sans"/>
              </a:rPr>
              <a:t>By integrating SPO admins directly with the platform, they will be able to directly verify all the projects done by a user and who were the people involved in it.</a:t>
            </a:r>
          </a:p>
        </p:txBody>
      </p:sp>
      <p:sp>
        <p:nvSpPr>
          <p:cNvPr id="11" name="TextBox 12">
            <a:extLst>
              <a:ext uri="{FF2B5EF4-FFF2-40B4-BE49-F238E27FC236}">
                <a16:creationId xmlns:a16="http://schemas.microsoft.com/office/drawing/2014/main" id="{794CFFD5-7CD2-E53F-F77B-068624820452}"/>
              </a:ext>
            </a:extLst>
          </p:cNvPr>
          <p:cNvSpPr txBox="1"/>
          <p:nvPr/>
        </p:nvSpPr>
        <p:spPr>
          <a:xfrm>
            <a:off x="5486400" y="5507532"/>
            <a:ext cx="11712940" cy="671018"/>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SPO Integration</a:t>
            </a:r>
          </a:p>
        </p:txBody>
      </p:sp>
      <p:sp>
        <p:nvSpPr>
          <p:cNvPr id="13" name="TextBox 11">
            <a:extLst>
              <a:ext uri="{FF2B5EF4-FFF2-40B4-BE49-F238E27FC236}">
                <a16:creationId xmlns:a16="http://schemas.microsoft.com/office/drawing/2014/main" id="{E041E04B-7CD4-4DB1-2D94-66272C21F241}"/>
              </a:ext>
            </a:extLst>
          </p:cNvPr>
          <p:cNvSpPr txBox="1"/>
          <p:nvPr/>
        </p:nvSpPr>
        <p:spPr>
          <a:xfrm>
            <a:off x="5486400" y="2538114"/>
            <a:ext cx="11712940" cy="2740622"/>
          </a:xfrm>
          <a:prstGeom prst="rect">
            <a:avLst/>
          </a:prstGeom>
        </p:spPr>
        <p:txBody>
          <a:bodyPr lIns="0" tIns="0" rIns="0" bIns="0" rtlCol="0" anchor="t">
            <a:spAutoFit/>
          </a:bodyPr>
          <a:lstStyle/>
          <a:p>
            <a:pPr algn="just">
              <a:lnSpc>
                <a:spcPts val="3640"/>
              </a:lnSpc>
            </a:pPr>
            <a:r>
              <a:rPr lang="en-US" sz="2600" dirty="0">
                <a:solidFill>
                  <a:srgbClr val="000000"/>
                </a:solidFill>
                <a:latin typeface="Canva Sans"/>
                <a:ea typeface="Canva Sans"/>
                <a:cs typeface="Canva Sans"/>
                <a:sym typeface="Canva Sans"/>
              </a:rPr>
              <a:t>The recruiters will be able to modify the outcomes of applications. They could reject a previously accepted candidate, and vice versa. Additionally, they will be able to put some promising candidates in a waiting list. If the recruiter rejects a previously accepted candidate, the application of a candidate from the waiting list will be automatically accepted.</a:t>
            </a:r>
          </a:p>
        </p:txBody>
      </p:sp>
      <p:sp>
        <p:nvSpPr>
          <p:cNvPr id="15" name="TextBox 12">
            <a:extLst>
              <a:ext uri="{FF2B5EF4-FFF2-40B4-BE49-F238E27FC236}">
                <a16:creationId xmlns:a16="http://schemas.microsoft.com/office/drawing/2014/main" id="{F032DA51-869E-372F-B570-41774EE4B4A4}"/>
              </a:ext>
            </a:extLst>
          </p:cNvPr>
          <p:cNvSpPr txBox="1"/>
          <p:nvPr/>
        </p:nvSpPr>
        <p:spPr>
          <a:xfrm>
            <a:off x="5486400" y="1638300"/>
            <a:ext cx="11712940" cy="671018"/>
          </a:xfrm>
          <a:prstGeom prst="rect">
            <a:avLst/>
          </a:prstGeom>
        </p:spPr>
        <p:txBody>
          <a:bodyPr lIns="0" tIns="0" rIns="0" bIns="0" rtlCol="0" anchor="t">
            <a:spAutoFit/>
          </a:bodyPr>
          <a:lstStyle/>
          <a:p>
            <a:pPr>
              <a:lnSpc>
                <a:spcPts val="5599"/>
              </a:lnSpc>
            </a:pPr>
            <a:r>
              <a:rPr lang="en-US" sz="3999" b="1" dirty="0">
                <a:solidFill>
                  <a:srgbClr val="000000"/>
                </a:solidFill>
                <a:latin typeface="Canva Sans Bold"/>
                <a:ea typeface="Canva Sans Bold"/>
                <a:cs typeface="Canva Sans Bold"/>
                <a:sym typeface="Canva Sans Bold"/>
              </a:rPr>
              <a:t>Modification of Applications and Waiting lists</a:t>
            </a:r>
          </a:p>
        </p:txBody>
      </p:sp>
      <p:grpSp>
        <p:nvGrpSpPr>
          <p:cNvPr id="12" name="Group 7">
            <a:extLst>
              <a:ext uri="{FF2B5EF4-FFF2-40B4-BE49-F238E27FC236}">
                <a16:creationId xmlns:a16="http://schemas.microsoft.com/office/drawing/2014/main" id="{0D283C1A-6B9A-8056-D8DE-969DCC12A17E}"/>
              </a:ext>
            </a:extLst>
          </p:cNvPr>
          <p:cNvGrpSpPr/>
          <p:nvPr/>
        </p:nvGrpSpPr>
        <p:grpSpPr>
          <a:xfrm>
            <a:off x="272710" y="9105900"/>
            <a:ext cx="4000284" cy="850043"/>
            <a:chOff x="0" y="0"/>
            <a:chExt cx="5333714" cy="1133391"/>
          </a:xfrm>
        </p:grpSpPr>
        <p:sp>
          <p:nvSpPr>
            <p:cNvPr id="14" name="Freeform 8">
              <a:extLst>
                <a:ext uri="{FF2B5EF4-FFF2-40B4-BE49-F238E27FC236}">
                  <a16:creationId xmlns:a16="http://schemas.microsoft.com/office/drawing/2014/main" id="{13546B42-9C3E-B69A-7056-3E6691B95CA6}"/>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6" name="TextBox 9">
              <a:extLst>
                <a:ext uri="{FF2B5EF4-FFF2-40B4-BE49-F238E27FC236}">
                  <a16:creationId xmlns:a16="http://schemas.microsoft.com/office/drawing/2014/main" id="{AB7CFCD2-AC83-F2C3-B4BA-304B29C3CCB4}"/>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3129087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5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A26F-D9CF-519F-8604-EE63D396247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9B143B-2181-D979-4D24-AD50CEC30ED3}"/>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C73BD83A-555F-D65A-6646-21F1BB096013}"/>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1F47BA3E-5F39-AE11-C185-635EDA3315D8}"/>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B8E6326A-8E97-0AF6-2A10-F1884700AA78}"/>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8BB1DFAC-F2E9-6A3D-8DF8-72416D51AC88}"/>
              </a:ext>
            </a:extLst>
          </p:cNvPr>
          <p:cNvSpPr txBox="1"/>
          <p:nvPr/>
        </p:nvSpPr>
        <p:spPr>
          <a:xfrm>
            <a:off x="5940332" y="304800"/>
            <a:ext cx="10728008" cy="1295400"/>
          </a:xfrm>
          <a:prstGeom prst="rect">
            <a:avLst/>
          </a:prstGeom>
        </p:spPr>
        <p:txBody>
          <a:bodyPr lIns="0" tIns="0" rIns="0" bIns="0" rtlCol="0" anchor="t">
            <a:spAutoFit/>
          </a:bodyPr>
          <a:lstStyle/>
          <a:p>
            <a:pPr algn="ctr">
              <a:lnSpc>
                <a:spcPts val="10500"/>
              </a:lnSpc>
            </a:pPr>
            <a:r>
              <a:rPr lang="en-US" sz="7500" b="1" dirty="0">
                <a:solidFill>
                  <a:srgbClr val="000000"/>
                </a:solidFill>
                <a:latin typeface="Canva Sans Bold"/>
                <a:ea typeface="Canva Sans Bold"/>
                <a:cs typeface="Canva Sans Bold"/>
                <a:sym typeface="Canva Sans Bold"/>
              </a:rPr>
              <a:t>Lessons Learnt</a:t>
            </a:r>
          </a:p>
        </p:txBody>
      </p:sp>
      <p:sp>
        <p:nvSpPr>
          <p:cNvPr id="12" name="TextBox 11">
            <a:extLst>
              <a:ext uri="{FF2B5EF4-FFF2-40B4-BE49-F238E27FC236}">
                <a16:creationId xmlns:a16="http://schemas.microsoft.com/office/drawing/2014/main" id="{C003154B-D503-1139-7B74-AAAB5CE898A4}"/>
              </a:ext>
            </a:extLst>
          </p:cNvPr>
          <p:cNvSpPr txBox="1"/>
          <p:nvPr/>
        </p:nvSpPr>
        <p:spPr>
          <a:xfrm>
            <a:off x="5447136" y="2171700"/>
            <a:ext cx="11714400" cy="7294305"/>
          </a:xfrm>
          <a:prstGeom prst="rect">
            <a:avLst/>
          </a:prstGeom>
          <a:noFill/>
        </p:spPr>
        <p:txBody>
          <a:bodyPr wrap="square" rtlCol="0">
            <a:spAutoFit/>
          </a:bodyPr>
          <a:lstStyle/>
          <a:p>
            <a:pPr algn="just"/>
            <a:r>
              <a:rPr lang="en-IN" sz="2600" dirty="0">
                <a:latin typeface="Canva Sans" panose="020B0604020202020204" charset="0"/>
              </a:rPr>
              <a:t>This is probably the most practical and hands on departmental course we have studied. It was mesmerizing to see a functional website built by just the ten of us. </a:t>
            </a:r>
          </a:p>
          <a:p>
            <a:pPr algn="just"/>
            <a:endParaRPr lang="en-IN" sz="2600" dirty="0">
              <a:latin typeface="Canva Sans" panose="020B0604020202020204" charset="0"/>
            </a:endParaRPr>
          </a:p>
          <a:p>
            <a:pPr algn="just"/>
            <a:r>
              <a:rPr lang="en-IN" sz="2600" dirty="0">
                <a:latin typeface="Canva Sans" panose="020B0604020202020204" charset="0"/>
              </a:rPr>
              <a:t>We realized that software development is not only about writing code or debugging. During the 3 – 4 months that we worked on this project, we, more often than not found ourselves solving problems that had nothing to do with the technical aspect of the project.</a:t>
            </a:r>
          </a:p>
          <a:p>
            <a:pPr algn="just"/>
            <a:br>
              <a:rPr lang="en-IN" sz="2600" dirty="0">
                <a:latin typeface="Canva Sans" panose="020B0604020202020204" charset="0"/>
              </a:rPr>
            </a:br>
            <a:r>
              <a:rPr lang="en-IN" sz="2600" dirty="0">
                <a:latin typeface="Canva Sans" panose="020B0604020202020204" charset="0"/>
              </a:rPr>
              <a:t>Managing a team of 10 people made us realize that there will always be disagreements between team members. Nonetheless, we also realized that it is always possible to reach middle grounds where no one would feel unheard.</a:t>
            </a:r>
          </a:p>
          <a:p>
            <a:pPr algn="just"/>
            <a:endParaRPr lang="en-IN" sz="2600" dirty="0">
              <a:latin typeface="Canva Sans" panose="020B0604020202020204" charset="0"/>
            </a:endParaRPr>
          </a:p>
          <a:p>
            <a:pPr algn="just"/>
            <a:r>
              <a:rPr lang="en-IN" sz="2600" dirty="0">
                <a:latin typeface="Canva Sans" panose="020B0604020202020204" charset="0"/>
              </a:rPr>
              <a:t>Time management played a vital role in the success of this project. Managing other heavy departmental courses such as CS220 and CS771 drove us to utilize our time and shift workloads accordingly in order to work in an efficient manner.</a:t>
            </a:r>
          </a:p>
        </p:txBody>
      </p:sp>
      <p:grpSp>
        <p:nvGrpSpPr>
          <p:cNvPr id="6" name="Group 7">
            <a:extLst>
              <a:ext uri="{FF2B5EF4-FFF2-40B4-BE49-F238E27FC236}">
                <a16:creationId xmlns:a16="http://schemas.microsoft.com/office/drawing/2014/main" id="{8F61567E-22A6-E38A-ED70-B93620954A62}"/>
              </a:ext>
            </a:extLst>
          </p:cNvPr>
          <p:cNvGrpSpPr/>
          <p:nvPr/>
        </p:nvGrpSpPr>
        <p:grpSpPr>
          <a:xfrm>
            <a:off x="272710" y="9105900"/>
            <a:ext cx="4000284" cy="850043"/>
            <a:chOff x="0" y="0"/>
            <a:chExt cx="5333714" cy="1133391"/>
          </a:xfrm>
        </p:grpSpPr>
        <p:sp>
          <p:nvSpPr>
            <p:cNvPr id="11" name="Freeform 8">
              <a:extLst>
                <a:ext uri="{FF2B5EF4-FFF2-40B4-BE49-F238E27FC236}">
                  <a16:creationId xmlns:a16="http://schemas.microsoft.com/office/drawing/2014/main" id="{CC77A9DE-1ED4-068F-10A8-47E5D78AC219}"/>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3" name="TextBox 9">
              <a:extLst>
                <a:ext uri="{FF2B5EF4-FFF2-40B4-BE49-F238E27FC236}">
                  <a16:creationId xmlns:a16="http://schemas.microsoft.com/office/drawing/2014/main" id="{6A5C14EA-35F8-3D2A-031C-650C5910B0F1}"/>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4144106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animEffect transition="in" filter="fade">
                                      <p:cBhvr>
                                        <p:cTn id="27"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ACA3-EFA5-9089-28A3-22C336016B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A207D5B-9714-3431-B33C-9FB7A240AB8C}"/>
              </a:ext>
            </a:extLst>
          </p:cNvPr>
          <p:cNvGrpSpPr/>
          <p:nvPr/>
        </p:nvGrpSpPr>
        <p:grpSpPr>
          <a:xfrm>
            <a:off x="0" y="0"/>
            <a:ext cx="4545708" cy="10287000"/>
            <a:chOff x="0" y="0"/>
            <a:chExt cx="1197223" cy="2709333"/>
          </a:xfrm>
        </p:grpSpPr>
        <p:sp>
          <p:nvSpPr>
            <p:cNvPr id="3" name="Freeform 3">
              <a:extLst>
                <a:ext uri="{FF2B5EF4-FFF2-40B4-BE49-F238E27FC236}">
                  <a16:creationId xmlns:a16="http://schemas.microsoft.com/office/drawing/2014/main" id="{8842E3A3-361B-E8D4-6640-A9086F8875C2}"/>
                </a:ext>
              </a:extLst>
            </p:cNvPr>
            <p:cNvSpPr/>
            <p:nvPr/>
          </p:nvSpPr>
          <p:spPr>
            <a:xfrm>
              <a:off x="0" y="0"/>
              <a:ext cx="1197224" cy="2709333"/>
            </a:xfrm>
            <a:custGeom>
              <a:avLst/>
              <a:gdLst/>
              <a:ahLst/>
              <a:cxnLst/>
              <a:rect l="l" t="t" r="r" b="b"/>
              <a:pathLst>
                <a:path w="1197224" h="2709333">
                  <a:moveTo>
                    <a:pt x="0" y="0"/>
                  </a:moveTo>
                  <a:lnTo>
                    <a:pt x="1197224" y="0"/>
                  </a:lnTo>
                  <a:lnTo>
                    <a:pt x="1197224" y="2709333"/>
                  </a:lnTo>
                  <a:lnTo>
                    <a:pt x="0" y="2709333"/>
                  </a:lnTo>
                  <a:close/>
                </a:path>
              </a:pathLst>
            </a:custGeom>
            <a:gradFill rotWithShape="1">
              <a:gsLst>
                <a:gs pos="0">
                  <a:srgbClr val="7FA4A4">
                    <a:alpha val="100000"/>
                  </a:srgbClr>
                </a:gs>
                <a:gs pos="50000">
                  <a:srgbClr val="305A72">
                    <a:alpha val="100000"/>
                  </a:srgbClr>
                </a:gs>
                <a:gs pos="100000">
                  <a:srgbClr val="1A3C5C">
                    <a:alpha val="100000"/>
                  </a:srgbClr>
                </a:gs>
              </a:gsLst>
              <a:lin ang="2700000"/>
            </a:gradFill>
          </p:spPr>
        </p:sp>
        <p:sp>
          <p:nvSpPr>
            <p:cNvPr id="4" name="TextBox 4">
              <a:extLst>
                <a:ext uri="{FF2B5EF4-FFF2-40B4-BE49-F238E27FC236}">
                  <a16:creationId xmlns:a16="http://schemas.microsoft.com/office/drawing/2014/main" id="{0B313A94-809E-1FB6-EE43-36E5F799B69A}"/>
                </a:ext>
              </a:extLst>
            </p:cNvPr>
            <p:cNvSpPr txBox="1"/>
            <p:nvPr/>
          </p:nvSpPr>
          <p:spPr>
            <a:xfrm>
              <a:off x="0" y="-47625"/>
              <a:ext cx="1197223" cy="2756958"/>
            </a:xfrm>
            <a:prstGeom prst="rect">
              <a:avLst/>
            </a:prstGeom>
          </p:spPr>
          <p:txBody>
            <a:bodyPr lIns="50800" tIns="50800" rIns="50800" bIns="50800" rtlCol="0" anchor="ctr"/>
            <a:lstStyle/>
            <a:p>
              <a:pPr algn="ctr">
                <a:lnSpc>
                  <a:spcPts val="2239"/>
                </a:lnSpc>
              </a:pPr>
              <a:endParaRPr/>
            </a:p>
          </p:txBody>
        </p:sp>
      </p:grpSp>
      <p:sp>
        <p:nvSpPr>
          <p:cNvPr id="5" name="Freeform 5">
            <a:extLst>
              <a:ext uri="{FF2B5EF4-FFF2-40B4-BE49-F238E27FC236}">
                <a16:creationId xmlns:a16="http://schemas.microsoft.com/office/drawing/2014/main" id="{77EBFA1D-5B1A-6761-9080-D8AA4CE2F9C3}"/>
              </a:ext>
            </a:extLst>
          </p:cNvPr>
          <p:cNvSpPr/>
          <p:nvPr/>
        </p:nvSpPr>
        <p:spPr>
          <a:xfrm>
            <a:off x="-4" y="0"/>
            <a:ext cx="454571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75000"/>
            </a:blip>
            <a:stretch>
              <a:fillRect l="-352720" r="-50406"/>
            </a:stretch>
          </a:blipFill>
        </p:spPr>
      </p:sp>
      <p:sp>
        <p:nvSpPr>
          <p:cNvPr id="10" name="TextBox 10">
            <a:extLst>
              <a:ext uri="{FF2B5EF4-FFF2-40B4-BE49-F238E27FC236}">
                <a16:creationId xmlns:a16="http://schemas.microsoft.com/office/drawing/2014/main" id="{425B068C-F969-C146-15EA-49F28FE79BF0}"/>
              </a:ext>
            </a:extLst>
          </p:cNvPr>
          <p:cNvSpPr txBox="1"/>
          <p:nvPr/>
        </p:nvSpPr>
        <p:spPr>
          <a:xfrm>
            <a:off x="5867400" y="4495800"/>
            <a:ext cx="10728008" cy="1295400"/>
          </a:xfrm>
          <a:prstGeom prst="rect">
            <a:avLst/>
          </a:prstGeom>
        </p:spPr>
        <p:txBody>
          <a:bodyPr lIns="0" tIns="0" rIns="0" bIns="0" rtlCol="0" anchor="t">
            <a:spAutoFit/>
          </a:bodyPr>
          <a:lstStyle/>
          <a:p>
            <a:pPr algn="ctr">
              <a:lnSpc>
                <a:spcPts val="10500"/>
              </a:lnSpc>
            </a:pPr>
            <a:r>
              <a:rPr lang="en-US" sz="7500" b="1" dirty="0" err="1">
                <a:solidFill>
                  <a:srgbClr val="000000"/>
                </a:solidFill>
                <a:latin typeface="Canva Sans Bold"/>
                <a:ea typeface="Canva Sans Bold"/>
                <a:cs typeface="Canva Sans Bold"/>
                <a:sym typeface="Canva Sans Bold"/>
              </a:rPr>
              <a:t>QnA</a:t>
            </a:r>
            <a:r>
              <a:rPr lang="en-US" sz="7500" b="1" dirty="0">
                <a:solidFill>
                  <a:srgbClr val="000000"/>
                </a:solidFill>
                <a:latin typeface="Canva Sans Bold"/>
                <a:ea typeface="Canva Sans Bold"/>
                <a:cs typeface="Canva Sans Bold"/>
                <a:sym typeface="Canva Sans Bold"/>
              </a:rPr>
              <a:t> TIME</a:t>
            </a:r>
          </a:p>
        </p:txBody>
      </p:sp>
      <p:grpSp>
        <p:nvGrpSpPr>
          <p:cNvPr id="6" name="Group 7">
            <a:extLst>
              <a:ext uri="{FF2B5EF4-FFF2-40B4-BE49-F238E27FC236}">
                <a16:creationId xmlns:a16="http://schemas.microsoft.com/office/drawing/2014/main" id="{121CAD0A-A246-5AC7-FAB8-6F32952C0EAA}"/>
              </a:ext>
            </a:extLst>
          </p:cNvPr>
          <p:cNvGrpSpPr/>
          <p:nvPr/>
        </p:nvGrpSpPr>
        <p:grpSpPr>
          <a:xfrm>
            <a:off x="272710" y="9105900"/>
            <a:ext cx="4000284" cy="850043"/>
            <a:chOff x="0" y="0"/>
            <a:chExt cx="5333714" cy="1133391"/>
          </a:xfrm>
        </p:grpSpPr>
        <p:sp>
          <p:nvSpPr>
            <p:cNvPr id="11" name="Freeform 8">
              <a:extLst>
                <a:ext uri="{FF2B5EF4-FFF2-40B4-BE49-F238E27FC236}">
                  <a16:creationId xmlns:a16="http://schemas.microsoft.com/office/drawing/2014/main" id="{1D9C2076-6774-F88E-39EE-76E28A6F3E33}"/>
                </a:ext>
              </a:extLst>
            </p:cNvPr>
            <p:cNvSpPr/>
            <p:nvPr/>
          </p:nvSpPr>
          <p:spPr>
            <a:xfrm>
              <a:off x="0" y="0"/>
              <a:ext cx="1209379" cy="1133391"/>
            </a:xfrm>
            <a:custGeom>
              <a:avLst/>
              <a:gdLst/>
              <a:ahLst/>
              <a:cxnLst/>
              <a:rect l="l" t="t" r="r" b="b"/>
              <a:pathLst>
                <a:path w="1209379" h="1133391">
                  <a:moveTo>
                    <a:pt x="0" y="0"/>
                  </a:moveTo>
                  <a:lnTo>
                    <a:pt x="1209379" y="0"/>
                  </a:lnTo>
                  <a:lnTo>
                    <a:pt x="1209379" y="1133391"/>
                  </a:lnTo>
                  <a:lnTo>
                    <a:pt x="0" y="1133391"/>
                  </a:lnTo>
                  <a:lnTo>
                    <a:pt x="0" y="0"/>
                  </a:lnTo>
                  <a:close/>
                </a:path>
              </a:pathLst>
            </a:custGeom>
            <a:blipFill>
              <a:blip r:embed="rId3"/>
              <a:stretch>
                <a:fillRect t="-3352" b="-3352"/>
              </a:stretch>
            </a:blipFill>
          </p:spPr>
        </p:sp>
        <p:sp>
          <p:nvSpPr>
            <p:cNvPr id="12" name="TextBox 9">
              <a:extLst>
                <a:ext uri="{FF2B5EF4-FFF2-40B4-BE49-F238E27FC236}">
                  <a16:creationId xmlns:a16="http://schemas.microsoft.com/office/drawing/2014/main" id="{A6549BBC-BE0B-B0FD-0F1A-433837D02334}"/>
                </a:ext>
              </a:extLst>
            </p:cNvPr>
            <p:cNvSpPr txBox="1"/>
            <p:nvPr/>
          </p:nvSpPr>
          <p:spPr>
            <a:xfrm>
              <a:off x="1327430" y="262693"/>
              <a:ext cx="4006284" cy="560380"/>
            </a:xfrm>
            <a:prstGeom prst="rect">
              <a:avLst/>
            </a:prstGeom>
          </p:spPr>
          <p:txBody>
            <a:bodyPr lIns="0" tIns="0" rIns="0" bIns="0" rtlCol="0" anchor="t">
              <a:spAutoFit/>
            </a:bodyPr>
            <a:lstStyle/>
            <a:p>
              <a:pPr algn="just">
                <a:lnSpc>
                  <a:spcPts val="3553"/>
                </a:lnSpc>
                <a:spcBef>
                  <a:spcPct val="0"/>
                </a:spcBef>
              </a:pPr>
              <a:r>
                <a:rPr lang="en-US" sz="2538" b="1" dirty="0">
                  <a:solidFill>
                    <a:srgbClr val="FFFFFF"/>
                  </a:solidFill>
                  <a:latin typeface="Open Sans Bold"/>
                  <a:ea typeface="Open Sans Bold"/>
                  <a:cs typeface="Open Sans Bold"/>
                  <a:sym typeface="Open Sans Bold"/>
                </a:rPr>
                <a:t>Team Kernel Panic</a:t>
              </a:r>
            </a:p>
          </p:txBody>
        </p:sp>
      </p:grpSp>
    </p:spTree>
    <p:extLst>
      <p:ext uri="{BB962C8B-B14F-4D97-AF65-F5344CB8AC3E}">
        <p14:creationId xmlns:p14="http://schemas.microsoft.com/office/powerpoint/2010/main" val="315477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1158C-477B-9095-6847-9EB51E195B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9DC4FA-E556-ED3C-8A7B-C4AD7E32584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a:extLst>
              <a:ext uri="{FF2B5EF4-FFF2-40B4-BE49-F238E27FC236}">
                <a16:creationId xmlns:a16="http://schemas.microsoft.com/office/drawing/2014/main" id="{EBEC9F19-D3B2-1FE7-58E8-891A277380D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25000"/>
            </a:blip>
            <a:stretch>
              <a:fillRect l="-12529" r="-12529"/>
            </a:stretch>
          </a:blipFill>
        </p:spPr>
      </p:sp>
      <p:sp>
        <p:nvSpPr>
          <p:cNvPr id="10" name="TextBox 3">
            <a:extLst>
              <a:ext uri="{FF2B5EF4-FFF2-40B4-BE49-F238E27FC236}">
                <a16:creationId xmlns:a16="http://schemas.microsoft.com/office/drawing/2014/main" id="{97461D52-4F63-2FB8-F21A-F0E495E4835A}"/>
              </a:ext>
            </a:extLst>
          </p:cNvPr>
          <p:cNvSpPr txBox="1"/>
          <p:nvPr/>
        </p:nvSpPr>
        <p:spPr>
          <a:xfrm>
            <a:off x="2764038" y="4196961"/>
            <a:ext cx="12759923" cy="1893078"/>
          </a:xfrm>
          <a:prstGeom prst="rect">
            <a:avLst/>
          </a:prstGeom>
        </p:spPr>
        <p:txBody>
          <a:bodyPr lIns="0" tIns="0" rIns="0" bIns="0" rtlCol="0" anchor="t">
            <a:spAutoFit/>
          </a:bodyPr>
          <a:lstStyle/>
          <a:p>
            <a:pPr algn="ctr">
              <a:lnSpc>
                <a:spcPts val="14346"/>
              </a:lnSpc>
            </a:pPr>
            <a:r>
              <a:rPr lang="en-US" sz="14065" dirty="0">
                <a:solidFill>
                  <a:srgbClr val="FFFFFF"/>
                </a:solidFill>
                <a:latin typeface="Montserrat"/>
                <a:ea typeface="Montserrat"/>
                <a:cs typeface="Montserrat"/>
                <a:sym typeface="Montserrat"/>
              </a:rPr>
              <a:t>THANK YOU</a:t>
            </a:r>
          </a:p>
        </p:txBody>
      </p:sp>
    </p:spTree>
    <p:extLst>
      <p:ext uri="{BB962C8B-B14F-4D97-AF65-F5344CB8AC3E}">
        <p14:creationId xmlns:p14="http://schemas.microsoft.com/office/powerpoint/2010/main" val="1419068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1391</Words>
  <Application>Microsoft Office PowerPoint</Application>
  <PresentationFormat>Custom</PresentationFormat>
  <Paragraphs>94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Montserrat Bold</vt:lpstr>
      <vt:lpstr>Open Sans Bold</vt:lpstr>
      <vt:lpstr>Montserrat</vt:lpstr>
      <vt:lpstr>Canva Sans Bold</vt:lpstr>
      <vt:lpstr>Canva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IITK ProjectSpace</dc:title>
  <dc:creator>Aman Srivastava</dc:creator>
  <cp:lastModifiedBy>Aman Srivastava</cp:lastModifiedBy>
  <cp:revision>5</cp:revision>
  <dcterms:created xsi:type="dcterms:W3CDTF">2006-08-16T00:00:00Z</dcterms:created>
  <dcterms:modified xsi:type="dcterms:W3CDTF">2026-04-25T10:35:57Z</dcterms:modified>
  <dc:identifier>DAHGlDR5P4k</dc:identifier>
</cp:coreProperties>
</file>