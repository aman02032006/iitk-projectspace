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64" r:id="rId5"/>
    <p:sldId id="259" r:id="rId6"/>
    <p:sldId id="260" r:id="rId7"/>
    <p:sldId id="261" r:id="rId8"/>
    <p:sldId id="262" r:id="rId9"/>
    <p:sldId id="263" r:id="rId10"/>
  </p:sldIdLst>
  <p:sldSz cx="18288000" cy="10287000"/>
  <p:notesSz cx="6858000" cy="9144000"/>
  <p:embeddedFontLst>
    <p:embeddedFont>
      <p:font typeface="Canva Sans" panose="020B0604020202020204" charset="0"/>
      <p:regular r:id="rId11"/>
    </p:embeddedFont>
    <p:embeddedFont>
      <p:font typeface="Canva Sans Bold" panose="020B0604020202020204" charset="0"/>
      <p:regular r:id="rId12"/>
    </p:embeddedFont>
    <p:embeddedFont>
      <p:font typeface="Montserrat" panose="00000500000000000000" pitchFamily="2" charset="0"/>
      <p:regular r:id="rId13"/>
    </p:embeddedFont>
    <p:embeddedFont>
      <p:font typeface="Montserrat Bold" panose="020B0604020202020204" charset="0"/>
      <p:regular r:id="rId14"/>
    </p:embeddedFont>
    <p:embeddedFont>
      <p:font typeface="Open Sans" panose="020B0606030504020204" pitchFamily="34" charset="0"/>
      <p:regular r:id="rId15"/>
    </p:embeddedFont>
    <p:embeddedFont>
      <p:font typeface="Open Sans Bold" panose="020B0604020202020204" charset="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389"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hyperlink" Target="https://github.com/Aman02032006/IITK-ProjectSpace" TargetMode="Externa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sp>
      <p:sp>
        <p:nvSpPr>
          <p:cNvPr id="3" name="Freeform 3"/>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alphaModFix amt="25000"/>
            </a:blip>
            <a:stretch>
              <a:fillRect l="-12529" r="-12529"/>
            </a:stretch>
          </a:blipFill>
        </p:spPr>
      </p:sp>
      <p:sp>
        <p:nvSpPr>
          <p:cNvPr id="4" name="AutoShape 4"/>
          <p:cNvSpPr/>
          <p:nvPr/>
        </p:nvSpPr>
        <p:spPr>
          <a:xfrm flipV="1">
            <a:off x="1986655" y="6823515"/>
            <a:ext cx="14314689" cy="0"/>
          </a:xfrm>
          <a:prstGeom prst="line">
            <a:avLst/>
          </a:prstGeom>
          <a:ln w="19050" cap="flat">
            <a:solidFill>
              <a:srgbClr val="FFFFFF"/>
            </a:solidFill>
            <a:prstDash val="solid"/>
            <a:headEnd type="none" w="sm" len="sm"/>
            <a:tailEnd type="none" w="sm" len="sm"/>
          </a:ln>
        </p:spPr>
      </p:sp>
      <p:sp>
        <p:nvSpPr>
          <p:cNvPr id="5" name="TextBox 5"/>
          <p:cNvSpPr txBox="1"/>
          <p:nvPr/>
        </p:nvSpPr>
        <p:spPr>
          <a:xfrm>
            <a:off x="1986655" y="3605212"/>
            <a:ext cx="14314689" cy="2905125"/>
          </a:xfrm>
          <a:prstGeom prst="rect">
            <a:avLst/>
          </a:prstGeom>
        </p:spPr>
        <p:txBody>
          <a:bodyPr lIns="0" tIns="0" rIns="0" bIns="0" rtlCol="0" anchor="t">
            <a:spAutoFit/>
          </a:bodyPr>
          <a:lstStyle/>
          <a:p>
            <a:pPr algn="ctr">
              <a:lnSpc>
                <a:spcPts val="9000"/>
              </a:lnSpc>
            </a:pPr>
            <a:r>
              <a:rPr lang="en-US" sz="6000">
                <a:solidFill>
                  <a:srgbClr val="FFFFFF"/>
                </a:solidFill>
                <a:latin typeface="Montserrat"/>
                <a:ea typeface="Montserrat"/>
                <a:cs typeface="Montserrat"/>
                <a:sym typeface="Montserrat"/>
              </a:rPr>
              <a:t>CS253 Project</a:t>
            </a:r>
          </a:p>
          <a:p>
            <a:pPr algn="ctr">
              <a:lnSpc>
                <a:spcPts val="14999"/>
              </a:lnSpc>
            </a:pPr>
            <a:r>
              <a:rPr lang="en-US" sz="9999" b="1">
                <a:solidFill>
                  <a:srgbClr val="FFFFFF"/>
                </a:solidFill>
                <a:latin typeface="Montserrat Bold"/>
                <a:ea typeface="Montserrat Bold"/>
                <a:cs typeface="Montserrat Bold"/>
                <a:sym typeface="Montserrat Bold"/>
              </a:rPr>
              <a:t>IITK ProjectSpace</a:t>
            </a:r>
          </a:p>
        </p:txBody>
      </p:sp>
      <p:grpSp>
        <p:nvGrpSpPr>
          <p:cNvPr id="6" name="Group 6"/>
          <p:cNvGrpSpPr/>
          <p:nvPr/>
        </p:nvGrpSpPr>
        <p:grpSpPr>
          <a:xfrm>
            <a:off x="5856628" y="1160581"/>
            <a:ext cx="6574744" cy="1406406"/>
            <a:chOff x="0" y="0"/>
            <a:chExt cx="8766325" cy="1875208"/>
          </a:xfrm>
        </p:grpSpPr>
        <p:sp>
          <p:nvSpPr>
            <p:cNvPr id="7" name="Freeform 7"/>
            <p:cNvSpPr/>
            <p:nvPr/>
          </p:nvSpPr>
          <p:spPr>
            <a:xfrm>
              <a:off x="0" y="0"/>
              <a:ext cx="1987699" cy="1875208"/>
            </a:xfrm>
            <a:custGeom>
              <a:avLst/>
              <a:gdLst/>
              <a:ahLst/>
              <a:cxnLst/>
              <a:rect l="l" t="t" r="r" b="b"/>
              <a:pathLst>
                <a:path w="1987699" h="1875208">
                  <a:moveTo>
                    <a:pt x="0" y="0"/>
                  </a:moveTo>
                  <a:lnTo>
                    <a:pt x="1987699" y="0"/>
                  </a:lnTo>
                  <a:lnTo>
                    <a:pt x="1987699" y="1875208"/>
                  </a:lnTo>
                  <a:lnTo>
                    <a:pt x="0" y="1875208"/>
                  </a:lnTo>
                  <a:lnTo>
                    <a:pt x="0" y="0"/>
                  </a:lnTo>
                  <a:close/>
                </a:path>
              </a:pathLst>
            </a:custGeom>
            <a:blipFill>
              <a:blip r:embed="rId4"/>
              <a:stretch>
                <a:fillRect t="-2999" b="-2999"/>
              </a:stretch>
            </a:blipFill>
          </p:spPr>
        </p:sp>
        <p:sp>
          <p:nvSpPr>
            <p:cNvPr id="8" name="TextBox 8"/>
            <p:cNvSpPr txBox="1"/>
            <p:nvPr/>
          </p:nvSpPr>
          <p:spPr>
            <a:xfrm>
              <a:off x="2181722" y="437224"/>
              <a:ext cx="6584603" cy="924560"/>
            </a:xfrm>
            <a:prstGeom prst="rect">
              <a:avLst/>
            </a:prstGeom>
          </p:spPr>
          <p:txBody>
            <a:bodyPr lIns="0" tIns="0" rIns="0" bIns="0" rtlCol="0" anchor="t">
              <a:spAutoFit/>
            </a:bodyPr>
            <a:lstStyle/>
            <a:p>
              <a:pPr algn="just">
                <a:lnSpc>
                  <a:spcPts val="5880"/>
                </a:lnSpc>
                <a:spcBef>
                  <a:spcPct val="0"/>
                </a:spcBef>
              </a:pPr>
              <a:r>
                <a:rPr lang="en-US" sz="4200" b="1" dirty="0">
                  <a:solidFill>
                    <a:srgbClr val="FFFFFF"/>
                  </a:solidFill>
                  <a:latin typeface="Open Sans Bold"/>
                  <a:ea typeface="Open Sans Bold"/>
                  <a:cs typeface="Open Sans Bold"/>
                  <a:sym typeface="Open Sans Bold"/>
                </a:rPr>
                <a:t>Team Kernel Panic</a:t>
              </a:r>
            </a:p>
          </p:txBody>
        </p:sp>
      </p:grpSp>
      <p:sp>
        <p:nvSpPr>
          <p:cNvPr id="9" name="AutoShape 9"/>
          <p:cNvSpPr/>
          <p:nvPr/>
        </p:nvSpPr>
        <p:spPr>
          <a:xfrm flipV="1">
            <a:off x="1986655" y="3462337"/>
            <a:ext cx="14314689" cy="0"/>
          </a:xfrm>
          <a:prstGeom prst="line">
            <a:avLst/>
          </a:prstGeom>
          <a:ln w="19050" cap="flat">
            <a:solidFill>
              <a:srgbClr val="FFFFFF"/>
            </a:solidFill>
            <a:prstDash val="solid"/>
            <a:headEnd type="none" w="sm" len="sm"/>
            <a:tailEnd type="none" w="sm" len="sm"/>
          </a:ln>
        </p:spPr>
      </p:sp>
      <p:sp>
        <p:nvSpPr>
          <p:cNvPr id="10" name="TextBox 10"/>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FFFFFF"/>
                </a:solidFill>
                <a:latin typeface="Canva Sans"/>
                <a:ea typeface="Canva Sans"/>
                <a:cs typeface="Canva Sans"/>
                <a:sym typeface="Canva Sans"/>
              </a:rPr>
              <a:t>1</a:t>
            </a:r>
          </a:p>
        </p:txBody>
      </p:sp>
      <p:sp>
        <p:nvSpPr>
          <p:cNvPr id="11" name="TextBox 11"/>
          <p:cNvSpPr txBox="1"/>
          <p:nvPr/>
        </p:nvSpPr>
        <p:spPr>
          <a:xfrm>
            <a:off x="7330439" y="7727729"/>
            <a:ext cx="3627120" cy="514350"/>
          </a:xfrm>
          <a:prstGeom prst="rect">
            <a:avLst/>
          </a:prstGeom>
        </p:spPr>
        <p:txBody>
          <a:bodyPr wrap="square" lIns="0" tIns="0" rIns="0" bIns="0" rtlCol="0" anchor="t">
            <a:spAutoFit/>
          </a:bodyPr>
          <a:lstStyle/>
          <a:p>
            <a:pPr algn="l">
              <a:lnSpc>
                <a:spcPts val="4200"/>
              </a:lnSpc>
            </a:pPr>
            <a:r>
              <a:rPr lang="en-US" sz="3000" u="sng" spc="60" dirty="0" err="1">
                <a:solidFill>
                  <a:srgbClr val="FFFFFF"/>
                </a:solidFill>
                <a:latin typeface="Montserrat"/>
                <a:ea typeface="Montserrat"/>
                <a:cs typeface="Montserrat"/>
                <a:sym typeface="Montserrat"/>
                <a:hlinkClick r:id="rId5" tooltip="https://github.com/Aman02032006/IITK-ProjectSpace"/>
              </a:rPr>
              <a:t>Github</a:t>
            </a:r>
            <a:r>
              <a:rPr lang="en-US" sz="3000" u="sng" spc="60" dirty="0">
                <a:solidFill>
                  <a:srgbClr val="FFFFFF"/>
                </a:solidFill>
                <a:latin typeface="Montserrat"/>
                <a:ea typeface="Montserrat"/>
                <a:cs typeface="Montserrat"/>
                <a:sym typeface="Montserrat"/>
                <a:hlinkClick r:id="rId5" tooltip="https://github.com/Aman02032006/IITK-ProjectSpace"/>
              </a:rPr>
              <a:t> Repository</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4545708" cy="10287000"/>
            <a:chOff x="0" y="0"/>
            <a:chExt cx="1197223" cy="2709333"/>
          </a:xfrm>
        </p:grpSpPr>
        <p:sp>
          <p:nvSpPr>
            <p:cNvPr id="3" name="Freeform 3"/>
            <p:cNvSpPr/>
            <p:nvPr/>
          </p:nvSpPr>
          <p:spPr>
            <a:xfrm>
              <a:off x="0" y="0"/>
              <a:ext cx="1197224" cy="2709333"/>
            </a:xfrm>
            <a:custGeom>
              <a:avLst/>
              <a:gdLst/>
              <a:ahLst/>
              <a:cxnLst/>
              <a:rect l="l" t="t" r="r" b="b"/>
              <a:pathLst>
                <a:path w="1197224" h="2709333">
                  <a:moveTo>
                    <a:pt x="0" y="0"/>
                  </a:moveTo>
                  <a:lnTo>
                    <a:pt x="1197224" y="0"/>
                  </a:lnTo>
                  <a:lnTo>
                    <a:pt x="1197224" y="2709333"/>
                  </a:lnTo>
                  <a:lnTo>
                    <a:pt x="0" y="2709333"/>
                  </a:lnTo>
                  <a:close/>
                </a:path>
              </a:pathLst>
            </a:custGeom>
            <a:gradFill rotWithShape="1">
              <a:gsLst>
                <a:gs pos="0">
                  <a:srgbClr val="7FA4A4">
                    <a:alpha val="100000"/>
                  </a:srgbClr>
                </a:gs>
                <a:gs pos="50000">
                  <a:srgbClr val="305A72">
                    <a:alpha val="100000"/>
                  </a:srgbClr>
                </a:gs>
                <a:gs pos="100000">
                  <a:srgbClr val="1A3C5C">
                    <a:alpha val="100000"/>
                  </a:srgbClr>
                </a:gs>
              </a:gsLst>
              <a:lin ang="2700000"/>
            </a:gradFill>
          </p:spPr>
        </p:sp>
        <p:sp>
          <p:nvSpPr>
            <p:cNvPr id="4" name="TextBox 4"/>
            <p:cNvSpPr txBox="1"/>
            <p:nvPr/>
          </p:nvSpPr>
          <p:spPr>
            <a:xfrm>
              <a:off x="0" y="-47625"/>
              <a:ext cx="1197223" cy="2756958"/>
            </a:xfrm>
            <a:prstGeom prst="rect">
              <a:avLst/>
            </a:prstGeom>
          </p:spPr>
          <p:txBody>
            <a:bodyPr lIns="50800" tIns="50800" rIns="50800" bIns="50800" rtlCol="0" anchor="ctr"/>
            <a:lstStyle/>
            <a:p>
              <a:pPr algn="ctr">
                <a:lnSpc>
                  <a:spcPts val="2239"/>
                </a:lnSpc>
              </a:pPr>
              <a:endParaRPr/>
            </a:p>
          </p:txBody>
        </p:sp>
      </p:grpSp>
      <p:sp>
        <p:nvSpPr>
          <p:cNvPr id="5" name="Freeform 5"/>
          <p:cNvSpPr/>
          <p:nvPr/>
        </p:nvSpPr>
        <p:spPr>
          <a:xfrm>
            <a:off x="-98494" y="29356"/>
            <a:ext cx="4644202"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75000"/>
            </a:blip>
            <a:stretch>
              <a:fillRect l="-343119" r="-49336"/>
            </a:stretch>
          </a:blipFill>
        </p:spPr>
      </p:sp>
      <p:sp>
        <p:nvSpPr>
          <p:cNvPr id="6" name="TextBox 6"/>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2</a:t>
            </a:r>
          </a:p>
        </p:txBody>
      </p:sp>
      <p:grpSp>
        <p:nvGrpSpPr>
          <p:cNvPr id="7" name="Group 7"/>
          <p:cNvGrpSpPr/>
          <p:nvPr/>
        </p:nvGrpSpPr>
        <p:grpSpPr>
          <a:xfrm>
            <a:off x="272712" y="178657"/>
            <a:ext cx="4000284" cy="850043"/>
            <a:chOff x="0" y="0"/>
            <a:chExt cx="5333713" cy="1133391"/>
          </a:xfrm>
        </p:grpSpPr>
        <p:sp>
          <p:nvSpPr>
            <p:cNvPr id="8" name="Freeform 8"/>
            <p:cNvSpPr/>
            <p:nvPr/>
          </p:nvSpPr>
          <p:spPr>
            <a:xfrm>
              <a:off x="0" y="0"/>
              <a:ext cx="1209379" cy="1133391"/>
            </a:xfrm>
            <a:custGeom>
              <a:avLst/>
              <a:gdLst/>
              <a:ahLst/>
              <a:cxnLst/>
              <a:rect l="l" t="t" r="r" b="b"/>
              <a:pathLst>
                <a:path w="1209379" h="1133391">
                  <a:moveTo>
                    <a:pt x="0" y="0"/>
                  </a:moveTo>
                  <a:lnTo>
                    <a:pt x="1209379" y="0"/>
                  </a:lnTo>
                  <a:lnTo>
                    <a:pt x="1209379" y="1133391"/>
                  </a:lnTo>
                  <a:lnTo>
                    <a:pt x="0" y="1133391"/>
                  </a:lnTo>
                  <a:lnTo>
                    <a:pt x="0" y="0"/>
                  </a:lnTo>
                  <a:close/>
                </a:path>
              </a:pathLst>
            </a:custGeom>
            <a:blipFill>
              <a:blip r:embed="rId3"/>
              <a:stretch>
                <a:fillRect t="-3352" b="-3352"/>
              </a:stretch>
            </a:blipFill>
          </p:spPr>
        </p:sp>
        <p:sp>
          <p:nvSpPr>
            <p:cNvPr id="9" name="TextBox 9"/>
            <p:cNvSpPr txBox="1"/>
            <p:nvPr/>
          </p:nvSpPr>
          <p:spPr>
            <a:xfrm>
              <a:off x="1327429" y="262693"/>
              <a:ext cx="4006283" cy="560380"/>
            </a:xfrm>
            <a:prstGeom prst="rect">
              <a:avLst/>
            </a:prstGeom>
          </p:spPr>
          <p:txBody>
            <a:bodyPr lIns="0" tIns="0" rIns="0" bIns="0" rtlCol="0" anchor="t">
              <a:spAutoFit/>
            </a:bodyPr>
            <a:lstStyle/>
            <a:p>
              <a:pPr algn="just">
                <a:lnSpc>
                  <a:spcPts val="3553"/>
                </a:lnSpc>
                <a:spcBef>
                  <a:spcPct val="0"/>
                </a:spcBef>
              </a:pPr>
              <a:r>
                <a:rPr lang="en-US" sz="2538" b="1" dirty="0">
                  <a:solidFill>
                    <a:srgbClr val="FFFFFF"/>
                  </a:solidFill>
                  <a:latin typeface="Open Sans Bold"/>
                  <a:ea typeface="Open Sans Bold"/>
                  <a:cs typeface="Open Sans Bold"/>
                  <a:sym typeface="Open Sans Bold"/>
                </a:rPr>
                <a:t>Team Kernel Panic</a:t>
              </a:r>
            </a:p>
          </p:txBody>
        </p:sp>
      </p:grpSp>
      <p:sp>
        <p:nvSpPr>
          <p:cNvPr id="10" name="TextBox 10"/>
          <p:cNvSpPr txBox="1"/>
          <p:nvPr/>
        </p:nvSpPr>
        <p:spPr>
          <a:xfrm>
            <a:off x="5940332" y="517954"/>
            <a:ext cx="10728008" cy="1571625"/>
          </a:xfrm>
          <a:prstGeom prst="rect">
            <a:avLst/>
          </a:prstGeom>
        </p:spPr>
        <p:txBody>
          <a:bodyPr lIns="0" tIns="0" rIns="0" bIns="0" rtlCol="0" anchor="t">
            <a:spAutoFit/>
          </a:bodyPr>
          <a:lstStyle/>
          <a:p>
            <a:pPr algn="l">
              <a:lnSpc>
                <a:spcPts val="6300"/>
              </a:lnSpc>
            </a:pPr>
            <a:r>
              <a:rPr lang="en-US" sz="4500" b="1" dirty="0">
                <a:solidFill>
                  <a:srgbClr val="000000"/>
                </a:solidFill>
                <a:latin typeface="Canva Sans Bold"/>
                <a:ea typeface="Canva Sans Bold"/>
                <a:cs typeface="Canva Sans Bold"/>
                <a:sym typeface="Canva Sans Bold"/>
              </a:rPr>
              <a:t>What problem does IITK </a:t>
            </a:r>
            <a:r>
              <a:rPr lang="en-US" sz="4500" b="1" dirty="0" err="1">
                <a:solidFill>
                  <a:srgbClr val="000000"/>
                </a:solidFill>
                <a:latin typeface="Canva Sans Bold"/>
                <a:ea typeface="Canva Sans Bold"/>
                <a:cs typeface="Canva Sans Bold"/>
                <a:sym typeface="Canva Sans Bold"/>
              </a:rPr>
              <a:t>ProjectSpace</a:t>
            </a:r>
            <a:r>
              <a:rPr lang="en-US" sz="4500" b="1" dirty="0">
                <a:solidFill>
                  <a:srgbClr val="000000"/>
                </a:solidFill>
                <a:latin typeface="Canva Sans Bold"/>
                <a:ea typeface="Canva Sans Bold"/>
                <a:cs typeface="Canva Sans Bold"/>
                <a:sym typeface="Canva Sans Bold"/>
              </a:rPr>
              <a:t> actually solve?</a:t>
            </a:r>
          </a:p>
        </p:txBody>
      </p:sp>
      <p:sp>
        <p:nvSpPr>
          <p:cNvPr id="11" name="TextBox 11"/>
          <p:cNvSpPr txBox="1"/>
          <p:nvPr/>
        </p:nvSpPr>
        <p:spPr>
          <a:xfrm>
            <a:off x="5447866" y="2421881"/>
            <a:ext cx="11712940" cy="2734310"/>
          </a:xfrm>
          <a:prstGeom prst="rect">
            <a:avLst/>
          </a:prstGeom>
        </p:spPr>
        <p:txBody>
          <a:bodyPr lIns="0" tIns="0" rIns="0" bIns="0" rtlCol="0" anchor="t">
            <a:spAutoFit/>
          </a:bodyPr>
          <a:lstStyle/>
          <a:p>
            <a:pPr algn="just">
              <a:lnSpc>
                <a:spcPts val="3640"/>
              </a:lnSpc>
            </a:pPr>
            <a:r>
              <a:rPr lang="en-US" sz="2600" dirty="0">
                <a:solidFill>
                  <a:srgbClr val="000000"/>
                </a:solidFill>
                <a:latin typeface="Canva Sans"/>
                <a:ea typeface="Canva Sans"/>
                <a:cs typeface="Canva Sans"/>
                <a:sym typeface="Canva Sans"/>
              </a:rPr>
              <a:t>Projects and collaboration are an integral part of the IITK Community. Absolutely everybody takes part in projects, be it Professors, PhD scholars, PG or UG students. However currently, there is no particular way for the community to showcase their past projects or find collaborators for their future ones. IITK </a:t>
            </a:r>
            <a:r>
              <a:rPr lang="en-US" sz="2600" dirty="0" err="1">
                <a:solidFill>
                  <a:srgbClr val="000000"/>
                </a:solidFill>
                <a:latin typeface="Canva Sans"/>
                <a:ea typeface="Canva Sans"/>
                <a:cs typeface="Canva Sans"/>
                <a:sym typeface="Canva Sans"/>
              </a:rPr>
              <a:t>ProjectSpace</a:t>
            </a:r>
            <a:r>
              <a:rPr lang="en-US" sz="2600" dirty="0">
                <a:solidFill>
                  <a:srgbClr val="000000"/>
                </a:solidFill>
                <a:latin typeface="Canva Sans"/>
                <a:ea typeface="Canva Sans"/>
                <a:cs typeface="Canva Sans"/>
                <a:sym typeface="Canva Sans"/>
              </a:rPr>
              <a:t> solves this issue in the following ways:</a:t>
            </a:r>
          </a:p>
        </p:txBody>
      </p:sp>
      <p:sp>
        <p:nvSpPr>
          <p:cNvPr id="12" name="TextBox 12"/>
          <p:cNvSpPr txBox="1"/>
          <p:nvPr/>
        </p:nvSpPr>
        <p:spPr>
          <a:xfrm>
            <a:off x="5447866" y="5470516"/>
            <a:ext cx="11712940" cy="905510"/>
          </a:xfrm>
          <a:prstGeom prst="rect">
            <a:avLst/>
          </a:prstGeom>
        </p:spPr>
        <p:txBody>
          <a:bodyPr lIns="0" tIns="0" rIns="0" bIns="0" rtlCol="0" anchor="t">
            <a:spAutoFit/>
          </a:bodyPr>
          <a:lstStyle/>
          <a:p>
            <a:pPr marL="561341" lvl="1" indent="-280670" algn="l">
              <a:lnSpc>
                <a:spcPts val="3640"/>
              </a:lnSpc>
              <a:buFont typeface="Arial"/>
              <a:buChar char="•"/>
            </a:pPr>
            <a:r>
              <a:rPr lang="en-US" sz="2600" dirty="0">
                <a:solidFill>
                  <a:srgbClr val="000000"/>
                </a:solidFill>
                <a:latin typeface="Canva Sans"/>
                <a:ea typeface="Canva Sans"/>
                <a:cs typeface="Canva Sans"/>
                <a:sym typeface="Canva Sans"/>
              </a:rPr>
              <a:t>Users can maintain a personal portfolio profile including details such as email, department, skills, personal bio, social links, etc.</a:t>
            </a:r>
          </a:p>
        </p:txBody>
      </p:sp>
      <p:sp>
        <p:nvSpPr>
          <p:cNvPr id="13" name="TextBox 13"/>
          <p:cNvSpPr txBox="1"/>
          <p:nvPr/>
        </p:nvSpPr>
        <p:spPr>
          <a:xfrm>
            <a:off x="5447866" y="6690351"/>
            <a:ext cx="11712940" cy="1362710"/>
          </a:xfrm>
          <a:prstGeom prst="rect">
            <a:avLst/>
          </a:prstGeom>
        </p:spPr>
        <p:txBody>
          <a:bodyPr lIns="0" tIns="0" rIns="0" bIns="0" rtlCol="0" anchor="t">
            <a:spAutoFit/>
          </a:bodyPr>
          <a:lstStyle/>
          <a:p>
            <a:pPr marL="561341" lvl="1" indent="-280670" algn="l">
              <a:lnSpc>
                <a:spcPts val="3640"/>
              </a:lnSpc>
              <a:buFont typeface="Arial"/>
              <a:buChar char="•"/>
            </a:pPr>
            <a:r>
              <a:rPr lang="en-US" sz="2600" dirty="0">
                <a:solidFill>
                  <a:srgbClr val="000000"/>
                </a:solidFill>
                <a:latin typeface="Canva Sans"/>
                <a:ea typeface="Canva Sans"/>
                <a:cs typeface="Canva Sans"/>
                <a:sym typeface="Canva Sans"/>
              </a:rPr>
              <a:t>Users can post projects and project recruitments with details such as title, rich text descriptions, domains, media, related links and team members. </a:t>
            </a:r>
          </a:p>
        </p:txBody>
      </p:sp>
      <p:sp>
        <p:nvSpPr>
          <p:cNvPr id="14" name="TextBox 14"/>
          <p:cNvSpPr txBox="1"/>
          <p:nvPr/>
        </p:nvSpPr>
        <p:spPr>
          <a:xfrm>
            <a:off x="5447866" y="8367385"/>
            <a:ext cx="11712940" cy="905510"/>
          </a:xfrm>
          <a:prstGeom prst="rect">
            <a:avLst/>
          </a:prstGeom>
        </p:spPr>
        <p:txBody>
          <a:bodyPr lIns="0" tIns="0" rIns="0" bIns="0" rtlCol="0" anchor="t">
            <a:spAutoFit/>
          </a:bodyPr>
          <a:lstStyle/>
          <a:p>
            <a:pPr marL="561341" lvl="1" indent="-280670" algn="l">
              <a:lnSpc>
                <a:spcPts val="3640"/>
              </a:lnSpc>
              <a:buFont typeface="Arial"/>
              <a:buChar char="•"/>
            </a:pPr>
            <a:r>
              <a:rPr lang="en-US" sz="2600" dirty="0">
                <a:solidFill>
                  <a:srgbClr val="000000"/>
                </a:solidFill>
                <a:latin typeface="Canva Sans"/>
                <a:ea typeface="Canva Sans"/>
                <a:cs typeface="Canva Sans"/>
                <a:sym typeface="Canva Sans"/>
              </a:rPr>
              <a:t>Users can apply to project recruitments posted by professors, clubs or simply other users looking for collaborators on a project. </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0-#ppt_w/2"/>
                                          </p:val>
                                        </p:tav>
                                        <p:tav tm="100000">
                                          <p:val>
                                            <p:strVal val="#ppt_x"/>
                                          </p:val>
                                        </p:tav>
                                      </p:tavLst>
                                    </p:anim>
                                    <p:anim calcmode="lin" valueType="num">
                                      <p:cBhvr additive="base">
                                        <p:cTn id="12" dur="500" fill="hold"/>
                                        <p:tgtEl>
                                          <p:spTgt spid="2"/>
                                        </p:tgtEl>
                                        <p:attrNameLst>
                                          <p:attrName>ppt_y</p:attrName>
                                        </p:attrNameLst>
                                      </p:cBhvr>
                                      <p:tavLst>
                                        <p:tav tm="0">
                                          <p:val>
                                            <p:strVal val="#ppt_y"/>
                                          </p:val>
                                        </p:tav>
                                        <p:tav tm="100000">
                                          <p:val>
                                            <p:strVal val="#ppt_y"/>
                                          </p:val>
                                        </p:tav>
                                      </p:tavLst>
                                    </p:anim>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500"/>
                                        <p:tgtEl>
                                          <p:spTgt spid="12">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3"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4545708" cy="10287000"/>
            <a:chOff x="0" y="0"/>
            <a:chExt cx="1197223" cy="2709333"/>
          </a:xfrm>
        </p:grpSpPr>
        <p:sp>
          <p:nvSpPr>
            <p:cNvPr id="3" name="Freeform 3"/>
            <p:cNvSpPr/>
            <p:nvPr/>
          </p:nvSpPr>
          <p:spPr>
            <a:xfrm>
              <a:off x="0" y="0"/>
              <a:ext cx="1197224" cy="2709333"/>
            </a:xfrm>
            <a:custGeom>
              <a:avLst/>
              <a:gdLst/>
              <a:ahLst/>
              <a:cxnLst/>
              <a:rect l="l" t="t" r="r" b="b"/>
              <a:pathLst>
                <a:path w="1197224" h="2709333">
                  <a:moveTo>
                    <a:pt x="0" y="0"/>
                  </a:moveTo>
                  <a:lnTo>
                    <a:pt x="1197224" y="0"/>
                  </a:lnTo>
                  <a:lnTo>
                    <a:pt x="1197224" y="2709333"/>
                  </a:lnTo>
                  <a:lnTo>
                    <a:pt x="0" y="2709333"/>
                  </a:lnTo>
                  <a:close/>
                </a:path>
              </a:pathLst>
            </a:custGeom>
            <a:gradFill rotWithShape="1">
              <a:gsLst>
                <a:gs pos="0">
                  <a:srgbClr val="7FA4A4">
                    <a:alpha val="100000"/>
                  </a:srgbClr>
                </a:gs>
                <a:gs pos="50000">
                  <a:srgbClr val="305A72">
                    <a:alpha val="100000"/>
                  </a:srgbClr>
                </a:gs>
                <a:gs pos="100000">
                  <a:srgbClr val="1A3C5C">
                    <a:alpha val="100000"/>
                  </a:srgbClr>
                </a:gs>
              </a:gsLst>
              <a:lin ang="2700000"/>
            </a:gradFill>
          </p:spPr>
        </p:sp>
        <p:sp>
          <p:nvSpPr>
            <p:cNvPr id="4" name="TextBox 4"/>
            <p:cNvSpPr txBox="1"/>
            <p:nvPr/>
          </p:nvSpPr>
          <p:spPr>
            <a:xfrm>
              <a:off x="0" y="-47625"/>
              <a:ext cx="1197223" cy="2756958"/>
            </a:xfrm>
            <a:prstGeom prst="rect">
              <a:avLst/>
            </a:prstGeom>
          </p:spPr>
          <p:txBody>
            <a:bodyPr lIns="50800" tIns="50800" rIns="50800" bIns="50800" rtlCol="0" anchor="ctr"/>
            <a:lstStyle/>
            <a:p>
              <a:pPr algn="ctr">
                <a:lnSpc>
                  <a:spcPts val="2239"/>
                </a:lnSpc>
              </a:pPr>
              <a:endParaRPr/>
            </a:p>
          </p:txBody>
        </p:sp>
      </p:grpSp>
      <p:sp>
        <p:nvSpPr>
          <p:cNvPr id="5" name="Freeform 5"/>
          <p:cNvSpPr/>
          <p:nvPr/>
        </p:nvSpPr>
        <p:spPr>
          <a:xfrm>
            <a:off x="-4" y="0"/>
            <a:ext cx="4545712"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75000"/>
            </a:blip>
            <a:stretch>
              <a:fillRect l="-352720" r="-50406"/>
            </a:stretch>
          </a:blipFill>
        </p:spPr>
      </p:sp>
      <p:sp>
        <p:nvSpPr>
          <p:cNvPr id="6" name="TextBox 6"/>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3</a:t>
            </a:r>
          </a:p>
        </p:txBody>
      </p:sp>
      <p:grpSp>
        <p:nvGrpSpPr>
          <p:cNvPr id="7" name="Group 7"/>
          <p:cNvGrpSpPr/>
          <p:nvPr/>
        </p:nvGrpSpPr>
        <p:grpSpPr>
          <a:xfrm>
            <a:off x="272712" y="178657"/>
            <a:ext cx="4000284" cy="850043"/>
            <a:chOff x="0" y="0"/>
            <a:chExt cx="5333713" cy="1133391"/>
          </a:xfrm>
        </p:grpSpPr>
        <p:sp>
          <p:nvSpPr>
            <p:cNvPr id="8" name="Freeform 8"/>
            <p:cNvSpPr/>
            <p:nvPr/>
          </p:nvSpPr>
          <p:spPr>
            <a:xfrm>
              <a:off x="0" y="0"/>
              <a:ext cx="1209379" cy="1133391"/>
            </a:xfrm>
            <a:custGeom>
              <a:avLst/>
              <a:gdLst/>
              <a:ahLst/>
              <a:cxnLst/>
              <a:rect l="l" t="t" r="r" b="b"/>
              <a:pathLst>
                <a:path w="1209379" h="1133391">
                  <a:moveTo>
                    <a:pt x="0" y="0"/>
                  </a:moveTo>
                  <a:lnTo>
                    <a:pt x="1209379" y="0"/>
                  </a:lnTo>
                  <a:lnTo>
                    <a:pt x="1209379" y="1133391"/>
                  </a:lnTo>
                  <a:lnTo>
                    <a:pt x="0" y="1133391"/>
                  </a:lnTo>
                  <a:lnTo>
                    <a:pt x="0" y="0"/>
                  </a:lnTo>
                  <a:close/>
                </a:path>
              </a:pathLst>
            </a:custGeom>
            <a:blipFill>
              <a:blip r:embed="rId3"/>
              <a:stretch>
                <a:fillRect t="-3352" b="-3352"/>
              </a:stretch>
            </a:blipFill>
          </p:spPr>
        </p:sp>
        <p:sp>
          <p:nvSpPr>
            <p:cNvPr id="9" name="TextBox 9"/>
            <p:cNvSpPr txBox="1"/>
            <p:nvPr/>
          </p:nvSpPr>
          <p:spPr>
            <a:xfrm>
              <a:off x="1327429" y="262693"/>
              <a:ext cx="4006283" cy="560380"/>
            </a:xfrm>
            <a:prstGeom prst="rect">
              <a:avLst/>
            </a:prstGeom>
          </p:spPr>
          <p:txBody>
            <a:bodyPr lIns="0" tIns="0" rIns="0" bIns="0" rtlCol="0" anchor="t">
              <a:spAutoFit/>
            </a:bodyPr>
            <a:lstStyle/>
            <a:p>
              <a:pPr algn="just">
                <a:lnSpc>
                  <a:spcPts val="3553"/>
                </a:lnSpc>
                <a:spcBef>
                  <a:spcPct val="0"/>
                </a:spcBef>
              </a:pPr>
              <a:r>
                <a:rPr lang="en-US" sz="2538" b="1" dirty="0">
                  <a:solidFill>
                    <a:srgbClr val="FFFFFF"/>
                  </a:solidFill>
                  <a:latin typeface="Open Sans Bold"/>
                  <a:ea typeface="Open Sans Bold"/>
                  <a:cs typeface="Open Sans Bold"/>
                  <a:sym typeface="Open Sans Bold"/>
                </a:rPr>
                <a:t>Team Kernel Panic</a:t>
              </a:r>
            </a:p>
          </p:txBody>
        </p:sp>
      </p:grpSp>
      <p:sp>
        <p:nvSpPr>
          <p:cNvPr id="10" name="TextBox 10"/>
          <p:cNvSpPr txBox="1"/>
          <p:nvPr/>
        </p:nvSpPr>
        <p:spPr>
          <a:xfrm>
            <a:off x="5940332" y="304800"/>
            <a:ext cx="10728008" cy="1295400"/>
          </a:xfrm>
          <a:prstGeom prst="rect">
            <a:avLst/>
          </a:prstGeom>
        </p:spPr>
        <p:txBody>
          <a:bodyPr lIns="0" tIns="0" rIns="0" bIns="0" rtlCol="0" anchor="t">
            <a:spAutoFit/>
          </a:bodyPr>
          <a:lstStyle/>
          <a:p>
            <a:pPr algn="ctr">
              <a:lnSpc>
                <a:spcPts val="10500"/>
              </a:lnSpc>
            </a:pPr>
            <a:r>
              <a:rPr lang="en-US" sz="7500" b="1" dirty="0">
                <a:solidFill>
                  <a:srgbClr val="000000"/>
                </a:solidFill>
                <a:latin typeface="Canva Sans Bold"/>
                <a:ea typeface="Canva Sans Bold"/>
                <a:cs typeface="Canva Sans Bold"/>
                <a:sym typeface="Canva Sans Bold"/>
              </a:rPr>
              <a:t>Requirements</a:t>
            </a:r>
          </a:p>
        </p:txBody>
      </p:sp>
      <p:sp>
        <p:nvSpPr>
          <p:cNvPr id="11" name="TextBox 11"/>
          <p:cNvSpPr txBox="1"/>
          <p:nvPr/>
        </p:nvSpPr>
        <p:spPr>
          <a:xfrm>
            <a:off x="5447866" y="4051300"/>
            <a:ext cx="11712940" cy="4563110"/>
          </a:xfrm>
          <a:prstGeom prst="rect">
            <a:avLst/>
          </a:prstGeom>
        </p:spPr>
        <p:txBody>
          <a:bodyPr lIns="0" tIns="0" rIns="0" bIns="0" rtlCol="0" anchor="t">
            <a:spAutoFit/>
          </a:bodyPr>
          <a:lstStyle/>
          <a:p>
            <a:pPr algn="just">
              <a:lnSpc>
                <a:spcPts val="3640"/>
              </a:lnSpc>
            </a:pPr>
            <a:r>
              <a:rPr lang="en-US" sz="2600" dirty="0">
                <a:solidFill>
                  <a:srgbClr val="000000"/>
                </a:solidFill>
                <a:latin typeface="Canva Sans"/>
                <a:ea typeface="Canva Sans"/>
                <a:cs typeface="Canva Sans"/>
                <a:sym typeface="Canva Sans"/>
              </a:rPr>
              <a:t>The webapp must allow the users to maintain a personal portfolio on their user profile.</a:t>
            </a:r>
          </a:p>
          <a:p>
            <a:pPr algn="just">
              <a:lnSpc>
                <a:spcPts val="3640"/>
              </a:lnSpc>
            </a:pPr>
            <a:endParaRPr lang="en-US" sz="2600" dirty="0">
              <a:solidFill>
                <a:srgbClr val="000000"/>
              </a:solidFill>
              <a:latin typeface="Canva Sans"/>
              <a:ea typeface="Canva Sans"/>
              <a:cs typeface="Canva Sans"/>
              <a:sym typeface="Canva Sans"/>
            </a:endParaRPr>
          </a:p>
          <a:p>
            <a:pPr algn="just">
              <a:lnSpc>
                <a:spcPts val="3640"/>
              </a:lnSpc>
            </a:pPr>
            <a:r>
              <a:rPr lang="en-US" sz="2600" dirty="0">
                <a:solidFill>
                  <a:srgbClr val="000000"/>
                </a:solidFill>
                <a:latin typeface="Canva Sans"/>
                <a:ea typeface="Canva Sans"/>
                <a:cs typeface="Canva Sans"/>
                <a:sym typeface="Canva Sans"/>
              </a:rPr>
              <a:t>This must include details such as, but not limited to, Name, Email, designation, department, degree, social links. A list of skills and domains related to the user. A personal bio section where the user is able to express their areas of interests and background. </a:t>
            </a:r>
          </a:p>
          <a:p>
            <a:pPr algn="just">
              <a:lnSpc>
                <a:spcPts val="3640"/>
              </a:lnSpc>
            </a:pPr>
            <a:endParaRPr lang="en-US" sz="2600" dirty="0">
              <a:solidFill>
                <a:srgbClr val="000000"/>
              </a:solidFill>
              <a:latin typeface="Canva Sans"/>
              <a:ea typeface="Canva Sans"/>
              <a:cs typeface="Canva Sans"/>
              <a:sym typeface="Canva Sans"/>
            </a:endParaRPr>
          </a:p>
          <a:p>
            <a:pPr algn="just">
              <a:lnSpc>
                <a:spcPts val="3640"/>
              </a:lnSpc>
            </a:pPr>
            <a:r>
              <a:rPr lang="en-US" sz="2600" dirty="0">
                <a:solidFill>
                  <a:srgbClr val="000000"/>
                </a:solidFill>
                <a:latin typeface="Canva Sans"/>
                <a:ea typeface="Canva Sans"/>
                <a:cs typeface="Canva Sans"/>
                <a:sym typeface="Canva Sans"/>
              </a:rPr>
              <a:t>The user profile should also list all the projects and project recruitments that the user is consensually a part of.</a:t>
            </a:r>
          </a:p>
        </p:txBody>
      </p:sp>
      <p:sp>
        <p:nvSpPr>
          <p:cNvPr id="12" name="TextBox 12"/>
          <p:cNvSpPr txBox="1"/>
          <p:nvPr/>
        </p:nvSpPr>
        <p:spPr>
          <a:xfrm>
            <a:off x="5447866" y="2476500"/>
            <a:ext cx="11712940" cy="679450"/>
          </a:xfrm>
          <a:prstGeom prst="rect">
            <a:avLst/>
          </a:prstGeom>
        </p:spPr>
        <p:txBody>
          <a:bodyPr lIns="0" tIns="0" rIns="0" bIns="0" rtlCol="0" anchor="t">
            <a:spAutoFit/>
          </a:bodyPr>
          <a:lstStyle/>
          <a:p>
            <a:pPr algn="l">
              <a:lnSpc>
                <a:spcPts val="5599"/>
              </a:lnSpc>
            </a:pPr>
            <a:r>
              <a:rPr lang="en-US" sz="3999" b="1" dirty="0">
                <a:solidFill>
                  <a:srgbClr val="000000"/>
                </a:solidFill>
                <a:latin typeface="Canva Sans Bold"/>
                <a:ea typeface="Canva Sans Bold"/>
                <a:cs typeface="Canva Sans Bold"/>
                <a:sym typeface="Canva Sans Bold"/>
              </a:rPr>
              <a:t>User Profile as a Personal Portfolio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0-#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1">
                                            <p:txEl>
                                              <p:pRg st="0" end="0"/>
                                            </p:txEl>
                                          </p:spTgt>
                                        </p:tgtEl>
                                        <p:attrNameLst>
                                          <p:attrName>style.visibility</p:attrName>
                                        </p:attrNameLst>
                                      </p:cBhvr>
                                      <p:to>
                                        <p:strVal val="visible"/>
                                      </p:to>
                                    </p:set>
                                    <p:animEffect transition="in" filter="fade">
                                      <p:cBhvr>
                                        <p:cTn id="30" dur="500"/>
                                        <p:tgtEl>
                                          <p:spTgt spid="11">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xEl>
                                              <p:pRg st="2" end="2"/>
                                            </p:txEl>
                                          </p:spTgt>
                                        </p:tgtEl>
                                        <p:attrNameLst>
                                          <p:attrName>style.visibility</p:attrName>
                                        </p:attrNameLst>
                                      </p:cBhvr>
                                      <p:to>
                                        <p:strVal val="visible"/>
                                      </p:to>
                                    </p:set>
                                    <p:animEffect transition="in" filter="fade">
                                      <p:cBhvr>
                                        <p:cTn id="35" dur="500"/>
                                        <p:tgtEl>
                                          <p:spTgt spid="11">
                                            <p:txEl>
                                              <p:pRg st="2" end="2"/>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
                                            <p:txEl>
                                              <p:pRg st="4" end="4"/>
                                            </p:txEl>
                                          </p:spTgt>
                                        </p:tgtEl>
                                        <p:attrNameLst>
                                          <p:attrName>style.visibility</p:attrName>
                                        </p:attrNameLst>
                                      </p:cBhvr>
                                      <p:to>
                                        <p:strVal val="visible"/>
                                      </p:to>
                                    </p:set>
                                    <p:animEffect transition="in" filter="fade">
                                      <p:cBhvr>
                                        <p:cTn id="40" dur="500"/>
                                        <p:tgtEl>
                                          <p:spTgt spid="11">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33A45-BEC6-1C99-729D-21D87129BF6B}"/>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695DAFD-A4F0-99B3-B048-F99082535118}"/>
              </a:ext>
            </a:extLst>
          </p:cNvPr>
          <p:cNvGrpSpPr/>
          <p:nvPr/>
        </p:nvGrpSpPr>
        <p:grpSpPr>
          <a:xfrm>
            <a:off x="0" y="0"/>
            <a:ext cx="4545708" cy="10287000"/>
            <a:chOff x="0" y="0"/>
            <a:chExt cx="1197223" cy="2709333"/>
          </a:xfrm>
        </p:grpSpPr>
        <p:sp>
          <p:nvSpPr>
            <p:cNvPr id="3" name="Freeform 3">
              <a:extLst>
                <a:ext uri="{FF2B5EF4-FFF2-40B4-BE49-F238E27FC236}">
                  <a16:creationId xmlns:a16="http://schemas.microsoft.com/office/drawing/2014/main" id="{9FC47AA3-1BE5-AD82-2C41-E65051B85038}"/>
                </a:ext>
              </a:extLst>
            </p:cNvPr>
            <p:cNvSpPr/>
            <p:nvPr/>
          </p:nvSpPr>
          <p:spPr>
            <a:xfrm>
              <a:off x="0" y="0"/>
              <a:ext cx="1197224" cy="2709333"/>
            </a:xfrm>
            <a:custGeom>
              <a:avLst/>
              <a:gdLst/>
              <a:ahLst/>
              <a:cxnLst/>
              <a:rect l="l" t="t" r="r" b="b"/>
              <a:pathLst>
                <a:path w="1197224" h="2709333">
                  <a:moveTo>
                    <a:pt x="0" y="0"/>
                  </a:moveTo>
                  <a:lnTo>
                    <a:pt x="1197224" y="0"/>
                  </a:lnTo>
                  <a:lnTo>
                    <a:pt x="1197224" y="2709333"/>
                  </a:lnTo>
                  <a:lnTo>
                    <a:pt x="0" y="2709333"/>
                  </a:lnTo>
                  <a:close/>
                </a:path>
              </a:pathLst>
            </a:custGeom>
            <a:gradFill rotWithShape="1">
              <a:gsLst>
                <a:gs pos="0">
                  <a:srgbClr val="7FA4A4">
                    <a:alpha val="100000"/>
                  </a:srgbClr>
                </a:gs>
                <a:gs pos="50000">
                  <a:srgbClr val="305A72">
                    <a:alpha val="100000"/>
                  </a:srgbClr>
                </a:gs>
                <a:gs pos="100000">
                  <a:srgbClr val="1A3C5C">
                    <a:alpha val="100000"/>
                  </a:srgbClr>
                </a:gs>
              </a:gsLst>
              <a:lin ang="2700000"/>
            </a:gradFill>
          </p:spPr>
        </p:sp>
        <p:sp>
          <p:nvSpPr>
            <p:cNvPr id="4" name="TextBox 4">
              <a:extLst>
                <a:ext uri="{FF2B5EF4-FFF2-40B4-BE49-F238E27FC236}">
                  <a16:creationId xmlns:a16="http://schemas.microsoft.com/office/drawing/2014/main" id="{A34189FD-878E-2A0D-1B32-22888F512D87}"/>
                </a:ext>
              </a:extLst>
            </p:cNvPr>
            <p:cNvSpPr txBox="1"/>
            <p:nvPr/>
          </p:nvSpPr>
          <p:spPr>
            <a:xfrm>
              <a:off x="0" y="-47625"/>
              <a:ext cx="1197223" cy="2756958"/>
            </a:xfrm>
            <a:prstGeom prst="rect">
              <a:avLst/>
            </a:prstGeom>
          </p:spPr>
          <p:txBody>
            <a:bodyPr lIns="50800" tIns="50800" rIns="50800" bIns="50800" rtlCol="0" anchor="ctr"/>
            <a:lstStyle/>
            <a:p>
              <a:pPr algn="ctr">
                <a:lnSpc>
                  <a:spcPts val="2239"/>
                </a:lnSpc>
              </a:pPr>
              <a:endParaRPr/>
            </a:p>
          </p:txBody>
        </p:sp>
      </p:grpSp>
      <p:sp>
        <p:nvSpPr>
          <p:cNvPr id="5" name="Freeform 5">
            <a:extLst>
              <a:ext uri="{FF2B5EF4-FFF2-40B4-BE49-F238E27FC236}">
                <a16:creationId xmlns:a16="http://schemas.microsoft.com/office/drawing/2014/main" id="{A6B9A0A7-C9A2-036D-EA3C-947F16C1FA7C}"/>
              </a:ext>
            </a:extLst>
          </p:cNvPr>
          <p:cNvSpPr/>
          <p:nvPr/>
        </p:nvSpPr>
        <p:spPr>
          <a:xfrm>
            <a:off x="-4" y="0"/>
            <a:ext cx="4545712"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75000"/>
            </a:blip>
            <a:stretch>
              <a:fillRect l="-352720" r="-50406"/>
            </a:stretch>
          </a:blipFill>
        </p:spPr>
      </p:sp>
      <p:sp>
        <p:nvSpPr>
          <p:cNvPr id="6" name="TextBox 6">
            <a:extLst>
              <a:ext uri="{FF2B5EF4-FFF2-40B4-BE49-F238E27FC236}">
                <a16:creationId xmlns:a16="http://schemas.microsoft.com/office/drawing/2014/main" id="{1A4EB600-C23A-3ADB-7CD0-E2A213BB8787}"/>
              </a:ext>
            </a:extLst>
          </p:cNvPr>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3</a:t>
            </a:r>
          </a:p>
        </p:txBody>
      </p:sp>
      <p:grpSp>
        <p:nvGrpSpPr>
          <p:cNvPr id="7" name="Group 7">
            <a:extLst>
              <a:ext uri="{FF2B5EF4-FFF2-40B4-BE49-F238E27FC236}">
                <a16:creationId xmlns:a16="http://schemas.microsoft.com/office/drawing/2014/main" id="{CC8CA188-943F-9E15-A44B-9669A814F403}"/>
              </a:ext>
            </a:extLst>
          </p:cNvPr>
          <p:cNvGrpSpPr/>
          <p:nvPr/>
        </p:nvGrpSpPr>
        <p:grpSpPr>
          <a:xfrm>
            <a:off x="272712" y="178657"/>
            <a:ext cx="4000284" cy="850043"/>
            <a:chOff x="0" y="0"/>
            <a:chExt cx="5333713" cy="1133391"/>
          </a:xfrm>
        </p:grpSpPr>
        <p:sp>
          <p:nvSpPr>
            <p:cNvPr id="8" name="Freeform 8">
              <a:extLst>
                <a:ext uri="{FF2B5EF4-FFF2-40B4-BE49-F238E27FC236}">
                  <a16:creationId xmlns:a16="http://schemas.microsoft.com/office/drawing/2014/main" id="{CFB3BFFA-0489-72E0-A39D-9E3312DAF003}"/>
                </a:ext>
              </a:extLst>
            </p:cNvPr>
            <p:cNvSpPr/>
            <p:nvPr/>
          </p:nvSpPr>
          <p:spPr>
            <a:xfrm>
              <a:off x="0" y="0"/>
              <a:ext cx="1209379" cy="1133391"/>
            </a:xfrm>
            <a:custGeom>
              <a:avLst/>
              <a:gdLst/>
              <a:ahLst/>
              <a:cxnLst/>
              <a:rect l="l" t="t" r="r" b="b"/>
              <a:pathLst>
                <a:path w="1209379" h="1133391">
                  <a:moveTo>
                    <a:pt x="0" y="0"/>
                  </a:moveTo>
                  <a:lnTo>
                    <a:pt x="1209379" y="0"/>
                  </a:lnTo>
                  <a:lnTo>
                    <a:pt x="1209379" y="1133391"/>
                  </a:lnTo>
                  <a:lnTo>
                    <a:pt x="0" y="1133391"/>
                  </a:lnTo>
                  <a:lnTo>
                    <a:pt x="0" y="0"/>
                  </a:lnTo>
                  <a:close/>
                </a:path>
              </a:pathLst>
            </a:custGeom>
            <a:blipFill>
              <a:blip r:embed="rId3"/>
              <a:stretch>
                <a:fillRect t="-3352" b="-3352"/>
              </a:stretch>
            </a:blipFill>
          </p:spPr>
        </p:sp>
        <p:sp>
          <p:nvSpPr>
            <p:cNvPr id="9" name="TextBox 9">
              <a:extLst>
                <a:ext uri="{FF2B5EF4-FFF2-40B4-BE49-F238E27FC236}">
                  <a16:creationId xmlns:a16="http://schemas.microsoft.com/office/drawing/2014/main" id="{9D9ACA32-7679-4607-F39F-96D57CB65C73}"/>
                </a:ext>
              </a:extLst>
            </p:cNvPr>
            <p:cNvSpPr txBox="1"/>
            <p:nvPr/>
          </p:nvSpPr>
          <p:spPr>
            <a:xfrm>
              <a:off x="1327429" y="262693"/>
              <a:ext cx="4006283" cy="560380"/>
            </a:xfrm>
            <a:prstGeom prst="rect">
              <a:avLst/>
            </a:prstGeom>
          </p:spPr>
          <p:txBody>
            <a:bodyPr lIns="0" tIns="0" rIns="0" bIns="0" rtlCol="0" anchor="t">
              <a:spAutoFit/>
            </a:bodyPr>
            <a:lstStyle/>
            <a:p>
              <a:pPr algn="just">
                <a:lnSpc>
                  <a:spcPts val="3553"/>
                </a:lnSpc>
                <a:spcBef>
                  <a:spcPct val="0"/>
                </a:spcBef>
              </a:pPr>
              <a:r>
                <a:rPr lang="en-US" sz="2538" b="1" dirty="0">
                  <a:solidFill>
                    <a:srgbClr val="FFFFFF"/>
                  </a:solidFill>
                  <a:latin typeface="Open Sans Bold"/>
                  <a:ea typeface="Open Sans Bold"/>
                  <a:cs typeface="Open Sans Bold"/>
                  <a:sym typeface="Open Sans Bold"/>
                </a:rPr>
                <a:t>Team Kernel Panic</a:t>
              </a:r>
            </a:p>
          </p:txBody>
        </p:sp>
      </p:grpSp>
      <p:sp>
        <p:nvSpPr>
          <p:cNvPr id="10" name="TextBox 10">
            <a:extLst>
              <a:ext uri="{FF2B5EF4-FFF2-40B4-BE49-F238E27FC236}">
                <a16:creationId xmlns:a16="http://schemas.microsoft.com/office/drawing/2014/main" id="{99FC7A63-B893-F368-FDEF-987A4E2755D2}"/>
              </a:ext>
            </a:extLst>
          </p:cNvPr>
          <p:cNvSpPr txBox="1"/>
          <p:nvPr/>
        </p:nvSpPr>
        <p:spPr>
          <a:xfrm>
            <a:off x="5940332" y="304800"/>
            <a:ext cx="10728008" cy="1295400"/>
          </a:xfrm>
          <a:prstGeom prst="rect">
            <a:avLst/>
          </a:prstGeom>
        </p:spPr>
        <p:txBody>
          <a:bodyPr lIns="0" tIns="0" rIns="0" bIns="0" rtlCol="0" anchor="t">
            <a:spAutoFit/>
          </a:bodyPr>
          <a:lstStyle/>
          <a:p>
            <a:pPr algn="ctr">
              <a:lnSpc>
                <a:spcPts val="10500"/>
              </a:lnSpc>
            </a:pPr>
            <a:r>
              <a:rPr lang="en-US" sz="7500" b="1" dirty="0">
                <a:solidFill>
                  <a:srgbClr val="000000"/>
                </a:solidFill>
                <a:latin typeface="Canva Sans Bold"/>
                <a:ea typeface="Canva Sans Bold"/>
                <a:cs typeface="Canva Sans Bold"/>
                <a:sym typeface="Canva Sans Bold"/>
              </a:rPr>
              <a:t>Requirements</a:t>
            </a:r>
          </a:p>
        </p:txBody>
      </p:sp>
      <p:sp>
        <p:nvSpPr>
          <p:cNvPr id="11" name="TextBox 11">
            <a:extLst>
              <a:ext uri="{FF2B5EF4-FFF2-40B4-BE49-F238E27FC236}">
                <a16:creationId xmlns:a16="http://schemas.microsoft.com/office/drawing/2014/main" id="{0787B889-910C-F3B8-D85D-D9D12C3970C8}"/>
              </a:ext>
            </a:extLst>
          </p:cNvPr>
          <p:cNvSpPr txBox="1"/>
          <p:nvPr/>
        </p:nvSpPr>
        <p:spPr>
          <a:xfrm>
            <a:off x="5447866" y="4051300"/>
            <a:ext cx="11712940" cy="4563110"/>
          </a:xfrm>
          <a:prstGeom prst="rect">
            <a:avLst/>
          </a:prstGeom>
        </p:spPr>
        <p:txBody>
          <a:bodyPr lIns="0" tIns="0" rIns="0" bIns="0" rtlCol="0" anchor="t">
            <a:spAutoFit/>
          </a:bodyPr>
          <a:lstStyle/>
          <a:p>
            <a:pPr algn="just">
              <a:lnSpc>
                <a:spcPts val="3640"/>
              </a:lnSpc>
            </a:pPr>
            <a:r>
              <a:rPr lang="en-US" sz="2600" dirty="0">
                <a:solidFill>
                  <a:srgbClr val="000000"/>
                </a:solidFill>
                <a:latin typeface="Canva Sans"/>
                <a:ea typeface="Canva Sans"/>
                <a:cs typeface="Canva Sans"/>
                <a:sym typeface="Canva Sans"/>
              </a:rPr>
              <a:t>The webapp must allow the users to post rich projects with details such as a title, short summary, rich-text description, and a list of relevant domains, media such as images, videos and PDFs. </a:t>
            </a:r>
          </a:p>
          <a:p>
            <a:pPr algn="just">
              <a:lnSpc>
                <a:spcPts val="3640"/>
              </a:lnSpc>
            </a:pPr>
            <a:endParaRPr lang="en-US" sz="2600" dirty="0">
              <a:solidFill>
                <a:srgbClr val="000000"/>
              </a:solidFill>
              <a:latin typeface="Canva Sans"/>
              <a:ea typeface="Canva Sans"/>
              <a:cs typeface="Canva Sans"/>
              <a:sym typeface="Canva Sans"/>
            </a:endParaRPr>
          </a:p>
          <a:p>
            <a:pPr algn="just">
              <a:lnSpc>
                <a:spcPts val="3640"/>
              </a:lnSpc>
            </a:pPr>
            <a:r>
              <a:rPr lang="en-US" sz="2600" dirty="0">
                <a:solidFill>
                  <a:srgbClr val="000000"/>
                </a:solidFill>
                <a:latin typeface="Canva Sans"/>
                <a:ea typeface="Canva Sans"/>
                <a:cs typeface="Canva Sans"/>
                <a:sym typeface="Canva Sans"/>
              </a:rPr>
              <a:t>The project page must link the owner of the post and other team members. It should display the details, markdown description and any relevant media, they uploaded.</a:t>
            </a:r>
          </a:p>
          <a:p>
            <a:pPr algn="just">
              <a:lnSpc>
                <a:spcPts val="3640"/>
              </a:lnSpc>
            </a:pPr>
            <a:endParaRPr lang="en-US" sz="2600" dirty="0">
              <a:solidFill>
                <a:srgbClr val="000000"/>
              </a:solidFill>
              <a:latin typeface="Canva Sans"/>
              <a:ea typeface="Canva Sans"/>
              <a:cs typeface="Canva Sans"/>
              <a:sym typeface="Canva Sans"/>
            </a:endParaRPr>
          </a:p>
          <a:p>
            <a:pPr algn="just">
              <a:lnSpc>
                <a:spcPts val="3640"/>
              </a:lnSpc>
            </a:pPr>
            <a:r>
              <a:rPr lang="en-US" sz="2600" dirty="0">
                <a:solidFill>
                  <a:srgbClr val="000000"/>
                </a:solidFill>
                <a:latin typeface="Canva Sans"/>
                <a:ea typeface="Canva Sans"/>
                <a:cs typeface="Canva Sans"/>
                <a:sym typeface="Canva Sans"/>
              </a:rPr>
              <a:t>Users must be able to comment on the project post with the functionality of users replying to comments and the ability to delete their comments.</a:t>
            </a:r>
          </a:p>
        </p:txBody>
      </p:sp>
      <p:sp>
        <p:nvSpPr>
          <p:cNvPr id="12" name="TextBox 12">
            <a:extLst>
              <a:ext uri="{FF2B5EF4-FFF2-40B4-BE49-F238E27FC236}">
                <a16:creationId xmlns:a16="http://schemas.microsoft.com/office/drawing/2014/main" id="{B4683F22-B862-CAFB-B067-AF3A9B88ACCC}"/>
              </a:ext>
            </a:extLst>
          </p:cNvPr>
          <p:cNvSpPr txBox="1"/>
          <p:nvPr/>
        </p:nvSpPr>
        <p:spPr>
          <a:xfrm>
            <a:off x="5447866" y="2476500"/>
            <a:ext cx="11712940" cy="679450"/>
          </a:xfrm>
          <a:prstGeom prst="rect">
            <a:avLst/>
          </a:prstGeom>
        </p:spPr>
        <p:txBody>
          <a:bodyPr lIns="0" tIns="0" rIns="0" bIns="0" rtlCol="0" anchor="t">
            <a:spAutoFit/>
          </a:bodyPr>
          <a:lstStyle/>
          <a:p>
            <a:pPr>
              <a:lnSpc>
                <a:spcPts val="5599"/>
              </a:lnSpc>
            </a:pPr>
            <a:r>
              <a:rPr lang="en-US" sz="3999" b="1" dirty="0">
                <a:solidFill>
                  <a:srgbClr val="000000"/>
                </a:solidFill>
                <a:latin typeface="Canva Sans Bold"/>
                <a:ea typeface="Canva Sans Bold"/>
                <a:cs typeface="Canva Sans Bold"/>
                <a:sym typeface="Canva Sans Bold"/>
              </a:rPr>
              <a:t>Rich Project Showcase with Team members</a:t>
            </a:r>
          </a:p>
        </p:txBody>
      </p:sp>
    </p:spTree>
    <p:extLst>
      <p:ext uri="{BB962C8B-B14F-4D97-AF65-F5344CB8AC3E}">
        <p14:creationId xmlns:p14="http://schemas.microsoft.com/office/powerpoint/2010/main" val="3196949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0-#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1">
                                            <p:txEl>
                                              <p:pRg st="0" end="0"/>
                                            </p:txEl>
                                          </p:spTgt>
                                        </p:tgtEl>
                                        <p:attrNameLst>
                                          <p:attrName>style.visibility</p:attrName>
                                        </p:attrNameLst>
                                      </p:cBhvr>
                                      <p:to>
                                        <p:strVal val="visible"/>
                                      </p:to>
                                    </p:set>
                                    <p:animEffect transition="in" filter="fade">
                                      <p:cBhvr>
                                        <p:cTn id="30" dur="500"/>
                                        <p:tgtEl>
                                          <p:spTgt spid="11">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xEl>
                                              <p:pRg st="2" end="2"/>
                                            </p:txEl>
                                          </p:spTgt>
                                        </p:tgtEl>
                                        <p:attrNameLst>
                                          <p:attrName>style.visibility</p:attrName>
                                        </p:attrNameLst>
                                      </p:cBhvr>
                                      <p:to>
                                        <p:strVal val="visible"/>
                                      </p:to>
                                    </p:set>
                                    <p:animEffect transition="in" filter="fade">
                                      <p:cBhvr>
                                        <p:cTn id="35" dur="500"/>
                                        <p:tgtEl>
                                          <p:spTgt spid="11">
                                            <p:txEl>
                                              <p:pRg st="2" end="2"/>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
                                            <p:txEl>
                                              <p:pRg st="4" end="4"/>
                                            </p:txEl>
                                          </p:spTgt>
                                        </p:tgtEl>
                                        <p:attrNameLst>
                                          <p:attrName>style.visibility</p:attrName>
                                        </p:attrNameLst>
                                      </p:cBhvr>
                                      <p:to>
                                        <p:strVal val="visible"/>
                                      </p:to>
                                    </p:set>
                                    <p:animEffect transition="in" filter="fade">
                                      <p:cBhvr>
                                        <p:cTn id="40" dur="500"/>
                                        <p:tgtEl>
                                          <p:spTgt spid="11">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4545708" cy="10287000"/>
            <a:chOff x="0" y="0"/>
            <a:chExt cx="1197223" cy="2709333"/>
          </a:xfrm>
        </p:grpSpPr>
        <p:sp>
          <p:nvSpPr>
            <p:cNvPr id="3" name="Freeform 3"/>
            <p:cNvSpPr/>
            <p:nvPr/>
          </p:nvSpPr>
          <p:spPr>
            <a:xfrm>
              <a:off x="0" y="0"/>
              <a:ext cx="1197224" cy="2709333"/>
            </a:xfrm>
            <a:custGeom>
              <a:avLst/>
              <a:gdLst/>
              <a:ahLst/>
              <a:cxnLst/>
              <a:rect l="l" t="t" r="r" b="b"/>
              <a:pathLst>
                <a:path w="1197224" h="2709333">
                  <a:moveTo>
                    <a:pt x="0" y="0"/>
                  </a:moveTo>
                  <a:lnTo>
                    <a:pt x="1197224" y="0"/>
                  </a:lnTo>
                  <a:lnTo>
                    <a:pt x="1197224" y="2709333"/>
                  </a:lnTo>
                  <a:lnTo>
                    <a:pt x="0" y="2709333"/>
                  </a:lnTo>
                  <a:close/>
                </a:path>
              </a:pathLst>
            </a:custGeom>
            <a:gradFill rotWithShape="1">
              <a:gsLst>
                <a:gs pos="0">
                  <a:srgbClr val="7FA4A4">
                    <a:alpha val="100000"/>
                  </a:srgbClr>
                </a:gs>
                <a:gs pos="50000">
                  <a:srgbClr val="305A72">
                    <a:alpha val="100000"/>
                  </a:srgbClr>
                </a:gs>
                <a:gs pos="100000">
                  <a:srgbClr val="1A3C5C">
                    <a:alpha val="100000"/>
                  </a:srgbClr>
                </a:gs>
              </a:gsLst>
              <a:lin ang="2700000"/>
            </a:gradFill>
          </p:spPr>
        </p:sp>
        <p:sp>
          <p:nvSpPr>
            <p:cNvPr id="4" name="TextBox 4"/>
            <p:cNvSpPr txBox="1"/>
            <p:nvPr/>
          </p:nvSpPr>
          <p:spPr>
            <a:xfrm>
              <a:off x="0" y="-47625"/>
              <a:ext cx="1197223" cy="2756958"/>
            </a:xfrm>
            <a:prstGeom prst="rect">
              <a:avLst/>
            </a:prstGeom>
          </p:spPr>
          <p:txBody>
            <a:bodyPr lIns="50800" tIns="50800" rIns="50800" bIns="50800" rtlCol="0" anchor="ctr"/>
            <a:lstStyle/>
            <a:p>
              <a:pPr algn="ctr">
                <a:lnSpc>
                  <a:spcPts val="2239"/>
                </a:lnSpc>
              </a:pPr>
              <a:endParaRPr/>
            </a:p>
          </p:txBody>
        </p:sp>
      </p:grpSp>
      <p:sp>
        <p:nvSpPr>
          <p:cNvPr id="5" name="Freeform 5"/>
          <p:cNvSpPr/>
          <p:nvPr/>
        </p:nvSpPr>
        <p:spPr>
          <a:xfrm>
            <a:off x="-13742292"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75000"/>
            </a:blip>
            <a:stretch>
              <a:fillRect l="-12529" r="-12529"/>
            </a:stretch>
          </a:blipFill>
        </p:spPr>
      </p:sp>
      <p:sp>
        <p:nvSpPr>
          <p:cNvPr id="6" name="TextBox 6"/>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4</a:t>
            </a:r>
          </a:p>
        </p:txBody>
      </p:sp>
      <p:grpSp>
        <p:nvGrpSpPr>
          <p:cNvPr id="7" name="Group 7"/>
          <p:cNvGrpSpPr/>
          <p:nvPr/>
        </p:nvGrpSpPr>
        <p:grpSpPr>
          <a:xfrm>
            <a:off x="272712" y="178657"/>
            <a:ext cx="4000284" cy="850043"/>
            <a:chOff x="0" y="0"/>
            <a:chExt cx="5333713" cy="1133391"/>
          </a:xfrm>
        </p:grpSpPr>
        <p:sp>
          <p:nvSpPr>
            <p:cNvPr id="8" name="Freeform 8"/>
            <p:cNvSpPr/>
            <p:nvPr/>
          </p:nvSpPr>
          <p:spPr>
            <a:xfrm>
              <a:off x="0" y="0"/>
              <a:ext cx="1209379" cy="1133391"/>
            </a:xfrm>
            <a:custGeom>
              <a:avLst/>
              <a:gdLst/>
              <a:ahLst/>
              <a:cxnLst/>
              <a:rect l="l" t="t" r="r" b="b"/>
              <a:pathLst>
                <a:path w="1209379" h="1133391">
                  <a:moveTo>
                    <a:pt x="0" y="0"/>
                  </a:moveTo>
                  <a:lnTo>
                    <a:pt x="1209379" y="0"/>
                  </a:lnTo>
                  <a:lnTo>
                    <a:pt x="1209379" y="1133391"/>
                  </a:lnTo>
                  <a:lnTo>
                    <a:pt x="0" y="1133391"/>
                  </a:lnTo>
                  <a:lnTo>
                    <a:pt x="0" y="0"/>
                  </a:lnTo>
                  <a:close/>
                </a:path>
              </a:pathLst>
            </a:custGeom>
            <a:blipFill>
              <a:blip r:embed="rId3"/>
              <a:stretch>
                <a:fillRect t="-3352" b="-3352"/>
              </a:stretch>
            </a:blipFill>
          </p:spPr>
        </p:sp>
        <p:sp>
          <p:nvSpPr>
            <p:cNvPr id="9" name="TextBox 9"/>
            <p:cNvSpPr txBox="1"/>
            <p:nvPr/>
          </p:nvSpPr>
          <p:spPr>
            <a:xfrm>
              <a:off x="1327429" y="262693"/>
              <a:ext cx="4006283" cy="560380"/>
            </a:xfrm>
            <a:prstGeom prst="rect">
              <a:avLst/>
            </a:prstGeom>
          </p:spPr>
          <p:txBody>
            <a:bodyPr lIns="0" tIns="0" rIns="0" bIns="0" rtlCol="0" anchor="t">
              <a:spAutoFit/>
            </a:bodyPr>
            <a:lstStyle/>
            <a:p>
              <a:pPr algn="just">
                <a:lnSpc>
                  <a:spcPts val="3553"/>
                </a:lnSpc>
                <a:spcBef>
                  <a:spcPct val="0"/>
                </a:spcBef>
              </a:pPr>
              <a:r>
                <a:rPr lang="en-US" sz="2538" b="1">
                  <a:solidFill>
                    <a:srgbClr val="FFFFFF"/>
                  </a:solidFill>
                  <a:latin typeface="Open Sans Bold"/>
                  <a:ea typeface="Open Sans Bold"/>
                  <a:cs typeface="Open Sans Bold"/>
                  <a:sym typeface="Open Sans Bold"/>
                </a:rPr>
                <a:t>Team Kernel Panic</a:t>
              </a:r>
            </a:p>
          </p:txBody>
        </p:sp>
      </p:grpSp>
      <p:sp>
        <p:nvSpPr>
          <p:cNvPr id="10" name="TextBox 10"/>
          <p:cNvSpPr txBox="1"/>
          <p:nvPr/>
        </p:nvSpPr>
        <p:spPr>
          <a:xfrm>
            <a:off x="5940332" y="304800"/>
            <a:ext cx="10728008" cy="1295400"/>
          </a:xfrm>
          <a:prstGeom prst="rect">
            <a:avLst/>
          </a:prstGeom>
        </p:spPr>
        <p:txBody>
          <a:bodyPr lIns="0" tIns="0" rIns="0" bIns="0" rtlCol="0" anchor="t">
            <a:spAutoFit/>
          </a:bodyPr>
          <a:lstStyle/>
          <a:p>
            <a:pPr algn="ctr">
              <a:lnSpc>
                <a:spcPts val="10500"/>
              </a:lnSpc>
            </a:pPr>
            <a:r>
              <a:rPr lang="en-US" sz="7500" b="1">
                <a:solidFill>
                  <a:srgbClr val="000000"/>
                </a:solidFill>
                <a:latin typeface="Canva Sans Bold"/>
                <a:ea typeface="Canva Sans Bold"/>
                <a:cs typeface="Canva Sans Bold"/>
                <a:sym typeface="Canva Sans Bold"/>
              </a:rPr>
              <a:t>Requirements</a:t>
            </a:r>
          </a:p>
        </p:txBody>
      </p:sp>
      <p:sp>
        <p:nvSpPr>
          <p:cNvPr id="11" name="TextBox 11"/>
          <p:cNvSpPr txBox="1"/>
          <p:nvPr/>
        </p:nvSpPr>
        <p:spPr>
          <a:xfrm>
            <a:off x="5447866" y="4051300"/>
            <a:ext cx="11712940" cy="4563110"/>
          </a:xfrm>
          <a:prstGeom prst="rect">
            <a:avLst/>
          </a:prstGeom>
        </p:spPr>
        <p:txBody>
          <a:bodyPr lIns="0" tIns="0" rIns="0" bIns="0" rtlCol="0" anchor="t">
            <a:spAutoFit/>
          </a:bodyPr>
          <a:lstStyle/>
          <a:p>
            <a:pPr algn="just">
              <a:lnSpc>
                <a:spcPts val="3640"/>
              </a:lnSpc>
            </a:pPr>
            <a:r>
              <a:rPr lang="en-US" sz="2600" dirty="0">
                <a:solidFill>
                  <a:srgbClr val="000000"/>
                </a:solidFill>
                <a:latin typeface="Canva Sans"/>
                <a:ea typeface="Canva Sans"/>
                <a:cs typeface="Canva Sans"/>
                <a:sym typeface="Canva Sans"/>
              </a:rPr>
              <a:t>The webapp must allow the users to post rich projects with details such as a title, short summary, rich-text description, and a list of relevant domains, media such as images, videos and PDFs. </a:t>
            </a:r>
          </a:p>
          <a:p>
            <a:pPr algn="just">
              <a:lnSpc>
                <a:spcPts val="3640"/>
              </a:lnSpc>
            </a:pPr>
            <a:endParaRPr lang="en-US" sz="2600" dirty="0">
              <a:solidFill>
                <a:srgbClr val="000000"/>
              </a:solidFill>
              <a:latin typeface="Canva Sans"/>
              <a:ea typeface="Canva Sans"/>
              <a:cs typeface="Canva Sans"/>
              <a:sym typeface="Canva Sans"/>
            </a:endParaRPr>
          </a:p>
          <a:p>
            <a:pPr algn="just">
              <a:lnSpc>
                <a:spcPts val="3640"/>
              </a:lnSpc>
            </a:pPr>
            <a:r>
              <a:rPr lang="en-US" sz="2600" dirty="0">
                <a:solidFill>
                  <a:srgbClr val="000000"/>
                </a:solidFill>
                <a:latin typeface="Canva Sans"/>
                <a:ea typeface="Canva Sans"/>
                <a:cs typeface="Canva Sans"/>
                <a:sym typeface="Canva Sans"/>
              </a:rPr>
              <a:t>The project page must link the owner of the post and other team members. It should display the details, markdown description and any relevant media, they uploaded.</a:t>
            </a:r>
          </a:p>
          <a:p>
            <a:pPr algn="just">
              <a:lnSpc>
                <a:spcPts val="3640"/>
              </a:lnSpc>
            </a:pPr>
            <a:endParaRPr lang="en-US" sz="2600" dirty="0">
              <a:solidFill>
                <a:srgbClr val="000000"/>
              </a:solidFill>
              <a:latin typeface="Canva Sans"/>
              <a:ea typeface="Canva Sans"/>
              <a:cs typeface="Canva Sans"/>
              <a:sym typeface="Canva Sans"/>
            </a:endParaRPr>
          </a:p>
          <a:p>
            <a:pPr algn="just">
              <a:lnSpc>
                <a:spcPts val="3640"/>
              </a:lnSpc>
            </a:pPr>
            <a:r>
              <a:rPr lang="en-US" sz="2600" dirty="0">
                <a:solidFill>
                  <a:srgbClr val="000000"/>
                </a:solidFill>
                <a:latin typeface="Canva Sans"/>
                <a:ea typeface="Canva Sans"/>
                <a:cs typeface="Canva Sans"/>
                <a:sym typeface="Canva Sans"/>
              </a:rPr>
              <a:t>Users must be able to comment on the project post with the functionality of users replying to comments and the ability to delete their comments.</a:t>
            </a:r>
          </a:p>
        </p:txBody>
      </p:sp>
      <p:sp>
        <p:nvSpPr>
          <p:cNvPr id="12" name="TextBox 12"/>
          <p:cNvSpPr txBox="1"/>
          <p:nvPr/>
        </p:nvSpPr>
        <p:spPr>
          <a:xfrm>
            <a:off x="5447866" y="2476500"/>
            <a:ext cx="11712940" cy="679450"/>
          </a:xfrm>
          <a:prstGeom prst="rect">
            <a:avLst/>
          </a:prstGeom>
        </p:spPr>
        <p:txBody>
          <a:bodyPr lIns="0" tIns="0" rIns="0" bIns="0" rtlCol="0" anchor="t">
            <a:spAutoFit/>
          </a:bodyPr>
          <a:lstStyle/>
          <a:p>
            <a:pPr algn="l">
              <a:lnSpc>
                <a:spcPts val="5599"/>
              </a:lnSpc>
            </a:pPr>
            <a:r>
              <a:rPr lang="en-US" sz="3999" b="1" dirty="0">
                <a:solidFill>
                  <a:srgbClr val="000000"/>
                </a:solidFill>
                <a:latin typeface="Canva Sans Bold"/>
                <a:ea typeface="Canva Sans Bold"/>
                <a:cs typeface="Canva Sans Bold"/>
                <a:sym typeface="Canva Sans Bold"/>
              </a:rPr>
              <a:t>Rich Project Showcase with Team members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4545708" cy="10287000"/>
            <a:chOff x="0" y="0"/>
            <a:chExt cx="1197223" cy="2709333"/>
          </a:xfrm>
        </p:grpSpPr>
        <p:sp>
          <p:nvSpPr>
            <p:cNvPr id="3" name="Freeform 3"/>
            <p:cNvSpPr/>
            <p:nvPr/>
          </p:nvSpPr>
          <p:spPr>
            <a:xfrm>
              <a:off x="0" y="0"/>
              <a:ext cx="1197224" cy="2709333"/>
            </a:xfrm>
            <a:custGeom>
              <a:avLst/>
              <a:gdLst/>
              <a:ahLst/>
              <a:cxnLst/>
              <a:rect l="l" t="t" r="r" b="b"/>
              <a:pathLst>
                <a:path w="1197224" h="2709333">
                  <a:moveTo>
                    <a:pt x="0" y="0"/>
                  </a:moveTo>
                  <a:lnTo>
                    <a:pt x="1197224" y="0"/>
                  </a:lnTo>
                  <a:lnTo>
                    <a:pt x="1197224" y="2709333"/>
                  </a:lnTo>
                  <a:lnTo>
                    <a:pt x="0" y="2709333"/>
                  </a:lnTo>
                  <a:close/>
                </a:path>
              </a:pathLst>
            </a:custGeom>
            <a:gradFill rotWithShape="1">
              <a:gsLst>
                <a:gs pos="0">
                  <a:srgbClr val="7FA4A4">
                    <a:alpha val="100000"/>
                  </a:srgbClr>
                </a:gs>
                <a:gs pos="50000">
                  <a:srgbClr val="305A72">
                    <a:alpha val="100000"/>
                  </a:srgbClr>
                </a:gs>
                <a:gs pos="100000">
                  <a:srgbClr val="1A3C5C">
                    <a:alpha val="100000"/>
                  </a:srgbClr>
                </a:gs>
              </a:gsLst>
              <a:lin ang="2700000"/>
            </a:gradFill>
          </p:spPr>
        </p:sp>
        <p:sp>
          <p:nvSpPr>
            <p:cNvPr id="4" name="TextBox 4"/>
            <p:cNvSpPr txBox="1"/>
            <p:nvPr/>
          </p:nvSpPr>
          <p:spPr>
            <a:xfrm>
              <a:off x="0" y="-47625"/>
              <a:ext cx="1197223" cy="2756958"/>
            </a:xfrm>
            <a:prstGeom prst="rect">
              <a:avLst/>
            </a:prstGeom>
          </p:spPr>
          <p:txBody>
            <a:bodyPr lIns="50800" tIns="50800" rIns="50800" bIns="50800" rtlCol="0" anchor="ctr"/>
            <a:lstStyle/>
            <a:p>
              <a:pPr algn="ctr">
                <a:lnSpc>
                  <a:spcPts val="2239"/>
                </a:lnSpc>
              </a:pPr>
              <a:endParaRPr/>
            </a:p>
          </p:txBody>
        </p:sp>
      </p:grpSp>
      <p:sp>
        <p:nvSpPr>
          <p:cNvPr id="5" name="Freeform 5"/>
          <p:cNvSpPr/>
          <p:nvPr/>
        </p:nvSpPr>
        <p:spPr>
          <a:xfrm>
            <a:off x="-13742292"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75000"/>
            </a:blip>
            <a:stretch>
              <a:fillRect l="-12529" r="-12529"/>
            </a:stretch>
          </a:blipFill>
        </p:spPr>
      </p:sp>
      <p:sp>
        <p:nvSpPr>
          <p:cNvPr id="6" name="TextBox 6"/>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5</a:t>
            </a:r>
          </a:p>
        </p:txBody>
      </p:sp>
      <p:grpSp>
        <p:nvGrpSpPr>
          <p:cNvPr id="7" name="Group 7"/>
          <p:cNvGrpSpPr/>
          <p:nvPr/>
        </p:nvGrpSpPr>
        <p:grpSpPr>
          <a:xfrm>
            <a:off x="272712" y="178657"/>
            <a:ext cx="4000284" cy="850043"/>
            <a:chOff x="0" y="0"/>
            <a:chExt cx="5333713" cy="1133391"/>
          </a:xfrm>
        </p:grpSpPr>
        <p:sp>
          <p:nvSpPr>
            <p:cNvPr id="8" name="Freeform 8"/>
            <p:cNvSpPr/>
            <p:nvPr/>
          </p:nvSpPr>
          <p:spPr>
            <a:xfrm>
              <a:off x="0" y="0"/>
              <a:ext cx="1209379" cy="1133391"/>
            </a:xfrm>
            <a:custGeom>
              <a:avLst/>
              <a:gdLst/>
              <a:ahLst/>
              <a:cxnLst/>
              <a:rect l="l" t="t" r="r" b="b"/>
              <a:pathLst>
                <a:path w="1209379" h="1133391">
                  <a:moveTo>
                    <a:pt x="0" y="0"/>
                  </a:moveTo>
                  <a:lnTo>
                    <a:pt x="1209379" y="0"/>
                  </a:lnTo>
                  <a:lnTo>
                    <a:pt x="1209379" y="1133391"/>
                  </a:lnTo>
                  <a:lnTo>
                    <a:pt x="0" y="1133391"/>
                  </a:lnTo>
                  <a:lnTo>
                    <a:pt x="0" y="0"/>
                  </a:lnTo>
                  <a:close/>
                </a:path>
              </a:pathLst>
            </a:custGeom>
            <a:blipFill>
              <a:blip r:embed="rId3"/>
              <a:stretch>
                <a:fillRect t="-3352" b="-3352"/>
              </a:stretch>
            </a:blipFill>
          </p:spPr>
        </p:sp>
        <p:sp>
          <p:nvSpPr>
            <p:cNvPr id="9" name="TextBox 9"/>
            <p:cNvSpPr txBox="1"/>
            <p:nvPr/>
          </p:nvSpPr>
          <p:spPr>
            <a:xfrm>
              <a:off x="1327429" y="262693"/>
              <a:ext cx="4006283" cy="560380"/>
            </a:xfrm>
            <a:prstGeom prst="rect">
              <a:avLst/>
            </a:prstGeom>
          </p:spPr>
          <p:txBody>
            <a:bodyPr lIns="0" tIns="0" rIns="0" bIns="0" rtlCol="0" anchor="t">
              <a:spAutoFit/>
            </a:bodyPr>
            <a:lstStyle/>
            <a:p>
              <a:pPr algn="just">
                <a:lnSpc>
                  <a:spcPts val="3553"/>
                </a:lnSpc>
                <a:spcBef>
                  <a:spcPct val="0"/>
                </a:spcBef>
              </a:pPr>
              <a:r>
                <a:rPr lang="en-US" sz="2538" b="1">
                  <a:solidFill>
                    <a:srgbClr val="FFFFFF"/>
                  </a:solidFill>
                  <a:latin typeface="Open Sans Bold"/>
                  <a:ea typeface="Open Sans Bold"/>
                  <a:cs typeface="Open Sans Bold"/>
                  <a:sym typeface="Open Sans Bold"/>
                </a:rPr>
                <a:t>Team Kernel Panic</a:t>
              </a:r>
            </a:p>
          </p:txBody>
        </p:sp>
      </p:grpSp>
      <p:sp>
        <p:nvSpPr>
          <p:cNvPr id="10" name="TextBox 10"/>
          <p:cNvSpPr txBox="1"/>
          <p:nvPr/>
        </p:nvSpPr>
        <p:spPr>
          <a:xfrm>
            <a:off x="5940332" y="304800"/>
            <a:ext cx="10728008" cy="1295400"/>
          </a:xfrm>
          <a:prstGeom prst="rect">
            <a:avLst/>
          </a:prstGeom>
        </p:spPr>
        <p:txBody>
          <a:bodyPr lIns="0" tIns="0" rIns="0" bIns="0" rtlCol="0" anchor="t">
            <a:spAutoFit/>
          </a:bodyPr>
          <a:lstStyle/>
          <a:p>
            <a:pPr algn="ctr">
              <a:lnSpc>
                <a:spcPts val="10500"/>
              </a:lnSpc>
            </a:pPr>
            <a:r>
              <a:rPr lang="en-US" sz="7500" b="1">
                <a:solidFill>
                  <a:srgbClr val="000000"/>
                </a:solidFill>
                <a:latin typeface="Canva Sans Bold"/>
                <a:ea typeface="Canva Sans Bold"/>
                <a:cs typeface="Canva Sans Bold"/>
                <a:sym typeface="Canva Sans Bold"/>
              </a:rPr>
              <a:t>Requirements</a:t>
            </a:r>
          </a:p>
        </p:txBody>
      </p:sp>
      <p:sp>
        <p:nvSpPr>
          <p:cNvPr id="11" name="TextBox 11"/>
          <p:cNvSpPr txBox="1"/>
          <p:nvPr/>
        </p:nvSpPr>
        <p:spPr>
          <a:xfrm>
            <a:off x="5447866" y="3770744"/>
            <a:ext cx="11712940" cy="5934710"/>
          </a:xfrm>
          <a:prstGeom prst="rect">
            <a:avLst/>
          </a:prstGeom>
        </p:spPr>
        <p:txBody>
          <a:bodyPr lIns="0" tIns="0" rIns="0" bIns="0" rtlCol="0" anchor="t">
            <a:spAutoFit/>
          </a:bodyPr>
          <a:lstStyle/>
          <a:p>
            <a:pPr algn="just">
              <a:lnSpc>
                <a:spcPts val="3640"/>
              </a:lnSpc>
            </a:pPr>
            <a:r>
              <a:rPr lang="en-US" sz="2600">
                <a:solidFill>
                  <a:srgbClr val="000000"/>
                </a:solidFill>
                <a:latin typeface="Canva Sans"/>
                <a:ea typeface="Canva Sans"/>
                <a:cs typeface="Canva Sans"/>
                <a:sym typeface="Canva Sans"/>
              </a:rPr>
              <a:t>The webapp must allow users to create structured recruitment posts for projects.</a:t>
            </a:r>
          </a:p>
          <a:p>
            <a:pPr algn="just">
              <a:lnSpc>
                <a:spcPts val="3640"/>
              </a:lnSpc>
            </a:pPr>
            <a:endParaRPr lang="en-US" sz="2600">
              <a:solidFill>
                <a:srgbClr val="000000"/>
              </a:solidFill>
              <a:latin typeface="Canva Sans"/>
              <a:ea typeface="Canva Sans"/>
              <a:cs typeface="Canva Sans"/>
              <a:sym typeface="Canva Sans"/>
            </a:endParaRPr>
          </a:p>
          <a:p>
            <a:pPr algn="just">
              <a:lnSpc>
                <a:spcPts val="3640"/>
              </a:lnSpc>
            </a:pPr>
            <a:r>
              <a:rPr lang="en-US" sz="2600">
                <a:solidFill>
                  <a:srgbClr val="000000"/>
                </a:solidFill>
                <a:latin typeface="Canva Sans"/>
                <a:ea typeface="Canva Sans"/>
                <a:cs typeface="Canva Sans"/>
                <a:sym typeface="Canva Sans"/>
              </a:rPr>
              <a:t>This must include fields such as title, detailed description (markdown/plain-text), domains/tags, and prerequisites specifying required skills.</a:t>
            </a:r>
          </a:p>
          <a:p>
            <a:pPr algn="just">
              <a:lnSpc>
                <a:spcPts val="3640"/>
              </a:lnSpc>
            </a:pPr>
            <a:endParaRPr lang="en-US" sz="2600">
              <a:solidFill>
                <a:srgbClr val="000000"/>
              </a:solidFill>
              <a:latin typeface="Canva Sans"/>
              <a:ea typeface="Canva Sans"/>
              <a:cs typeface="Canva Sans"/>
              <a:sym typeface="Canva Sans"/>
            </a:endParaRPr>
          </a:p>
          <a:p>
            <a:pPr algn="just">
              <a:lnSpc>
                <a:spcPts val="3640"/>
              </a:lnSpc>
            </a:pPr>
            <a:r>
              <a:rPr lang="en-US" sz="2600">
                <a:solidFill>
                  <a:srgbClr val="000000"/>
                </a:solidFill>
                <a:latin typeface="Canva Sans"/>
                <a:ea typeface="Canva Sans"/>
                <a:cs typeface="Canva Sans"/>
                <a:sym typeface="Canva Sans"/>
              </a:rPr>
              <a:t>The system should allow users to attach relevant media and external links to provide additional context for the recruitment.</a:t>
            </a:r>
          </a:p>
          <a:p>
            <a:pPr algn="just">
              <a:lnSpc>
                <a:spcPts val="3640"/>
              </a:lnSpc>
            </a:pPr>
            <a:endParaRPr lang="en-US" sz="2600">
              <a:solidFill>
                <a:srgbClr val="000000"/>
              </a:solidFill>
              <a:latin typeface="Canva Sans"/>
              <a:ea typeface="Canva Sans"/>
              <a:cs typeface="Canva Sans"/>
              <a:sym typeface="Canva Sans"/>
            </a:endParaRPr>
          </a:p>
          <a:p>
            <a:pPr algn="just">
              <a:lnSpc>
                <a:spcPts val="3640"/>
              </a:lnSpc>
            </a:pPr>
            <a:r>
              <a:rPr lang="en-US" sz="2600">
                <a:solidFill>
                  <a:srgbClr val="000000"/>
                </a:solidFill>
                <a:latin typeface="Canva Sans"/>
                <a:ea typeface="Canva Sans"/>
                <a:cs typeface="Canva Sans"/>
                <a:sym typeface="Canva Sans"/>
              </a:rPr>
              <a:t>Users must be able to define eligibility constraints (such as allowed designations and departments) and add fellow recruiters to the post.</a:t>
            </a:r>
          </a:p>
          <a:p>
            <a:pPr algn="just">
              <a:lnSpc>
                <a:spcPts val="3640"/>
              </a:lnSpc>
            </a:pPr>
            <a:endParaRPr lang="en-US" sz="2600">
              <a:solidFill>
                <a:srgbClr val="000000"/>
              </a:solidFill>
              <a:latin typeface="Canva Sans"/>
              <a:ea typeface="Canva Sans"/>
              <a:cs typeface="Canva Sans"/>
              <a:sym typeface="Canva Sans"/>
            </a:endParaRPr>
          </a:p>
        </p:txBody>
      </p:sp>
      <p:sp>
        <p:nvSpPr>
          <p:cNvPr id="12" name="TextBox 12"/>
          <p:cNvSpPr txBox="1"/>
          <p:nvPr/>
        </p:nvSpPr>
        <p:spPr>
          <a:xfrm>
            <a:off x="5447866" y="2476500"/>
            <a:ext cx="11712940" cy="679450"/>
          </a:xfrm>
          <a:prstGeom prst="rect">
            <a:avLst/>
          </a:prstGeom>
        </p:spPr>
        <p:txBody>
          <a:bodyPr lIns="0" tIns="0" rIns="0" bIns="0" rtlCol="0" anchor="t">
            <a:spAutoFit/>
          </a:bodyPr>
          <a:lstStyle/>
          <a:p>
            <a:pPr algn="l">
              <a:lnSpc>
                <a:spcPts val="5599"/>
              </a:lnSpc>
            </a:pPr>
            <a:r>
              <a:rPr lang="en-US" sz="3999" b="1">
                <a:solidFill>
                  <a:srgbClr val="000000"/>
                </a:solidFill>
                <a:latin typeface="Canva Sans Bold"/>
                <a:ea typeface="Canva Sans Bold"/>
                <a:cs typeface="Canva Sans Bold"/>
                <a:sym typeface="Canva Sans Bold"/>
              </a:rPr>
              <a:t>Project-Based Recruitment system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4545708" cy="10287000"/>
            <a:chOff x="0" y="0"/>
            <a:chExt cx="1197223" cy="2709333"/>
          </a:xfrm>
        </p:grpSpPr>
        <p:sp>
          <p:nvSpPr>
            <p:cNvPr id="3" name="Freeform 3"/>
            <p:cNvSpPr/>
            <p:nvPr/>
          </p:nvSpPr>
          <p:spPr>
            <a:xfrm>
              <a:off x="0" y="0"/>
              <a:ext cx="1197224" cy="2709333"/>
            </a:xfrm>
            <a:custGeom>
              <a:avLst/>
              <a:gdLst/>
              <a:ahLst/>
              <a:cxnLst/>
              <a:rect l="l" t="t" r="r" b="b"/>
              <a:pathLst>
                <a:path w="1197224" h="2709333">
                  <a:moveTo>
                    <a:pt x="0" y="0"/>
                  </a:moveTo>
                  <a:lnTo>
                    <a:pt x="1197224" y="0"/>
                  </a:lnTo>
                  <a:lnTo>
                    <a:pt x="1197224" y="2709333"/>
                  </a:lnTo>
                  <a:lnTo>
                    <a:pt x="0" y="2709333"/>
                  </a:lnTo>
                  <a:close/>
                </a:path>
              </a:pathLst>
            </a:custGeom>
            <a:gradFill rotWithShape="1">
              <a:gsLst>
                <a:gs pos="0">
                  <a:srgbClr val="7FA4A4">
                    <a:alpha val="100000"/>
                  </a:srgbClr>
                </a:gs>
                <a:gs pos="50000">
                  <a:srgbClr val="305A72">
                    <a:alpha val="100000"/>
                  </a:srgbClr>
                </a:gs>
                <a:gs pos="100000">
                  <a:srgbClr val="1A3C5C">
                    <a:alpha val="100000"/>
                  </a:srgbClr>
                </a:gs>
              </a:gsLst>
              <a:lin ang="2700000"/>
            </a:gradFill>
          </p:spPr>
        </p:sp>
        <p:sp>
          <p:nvSpPr>
            <p:cNvPr id="4" name="TextBox 4"/>
            <p:cNvSpPr txBox="1"/>
            <p:nvPr/>
          </p:nvSpPr>
          <p:spPr>
            <a:xfrm>
              <a:off x="0" y="-47625"/>
              <a:ext cx="1197223" cy="2756958"/>
            </a:xfrm>
            <a:prstGeom prst="rect">
              <a:avLst/>
            </a:prstGeom>
          </p:spPr>
          <p:txBody>
            <a:bodyPr lIns="50800" tIns="50800" rIns="50800" bIns="50800" rtlCol="0" anchor="ctr"/>
            <a:lstStyle/>
            <a:p>
              <a:pPr algn="ctr">
                <a:lnSpc>
                  <a:spcPts val="2239"/>
                </a:lnSpc>
              </a:pPr>
              <a:endParaRPr/>
            </a:p>
          </p:txBody>
        </p:sp>
      </p:grpSp>
      <p:sp>
        <p:nvSpPr>
          <p:cNvPr id="5" name="Freeform 5"/>
          <p:cNvSpPr/>
          <p:nvPr/>
        </p:nvSpPr>
        <p:spPr>
          <a:xfrm>
            <a:off x="-13742292"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75000"/>
            </a:blip>
            <a:stretch>
              <a:fillRect l="-12529" r="-12529"/>
            </a:stretch>
          </a:blipFill>
        </p:spPr>
      </p:sp>
      <p:sp>
        <p:nvSpPr>
          <p:cNvPr id="6" name="TextBox 6"/>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6</a:t>
            </a:r>
          </a:p>
        </p:txBody>
      </p:sp>
      <p:grpSp>
        <p:nvGrpSpPr>
          <p:cNvPr id="7" name="Group 7"/>
          <p:cNvGrpSpPr/>
          <p:nvPr/>
        </p:nvGrpSpPr>
        <p:grpSpPr>
          <a:xfrm>
            <a:off x="272712" y="178657"/>
            <a:ext cx="4000284" cy="850043"/>
            <a:chOff x="0" y="0"/>
            <a:chExt cx="5333713" cy="1133391"/>
          </a:xfrm>
        </p:grpSpPr>
        <p:sp>
          <p:nvSpPr>
            <p:cNvPr id="8" name="Freeform 8"/>
            <p:cNvSpPr/>
            <p:nvPr/>
          </p:nvSpPr>
          <p:spPr>
            <a:xfrm>
              <a:off x="0" y="0"/>
              <a:ext cx="1209379" cy="1133391"/>
            </a:xfrm>
            <a:custGeom>
              <a:avLst/>
              <a:gdLst/>
              <a:ahLst/>
              <a:cxnLst/>
              <a:rect l="l" t="t" r="r" b="b"/>
              <a:pathLst>
                <a:path w="1209379" h="1133391">
                  <a:moveTo>
                    <a:pt x="0" y="0"/>
                  </a:moveTo>
                  <a:lnTo>
                    <a:pt x="1209379" y="0"/>
                  </a:lnTo>
                  <a:lnTo>
                    <a:pt x="1209379" y="1133391"/>
                  </a:lnTo>
                  <a:lnTo>
                    <a:pt x="0" y="1133391"/>
                  </a:lnTo>
                  <a:lnTo>
                    <a:pt x="0" y="0"/>
                  </a:lnTo>
                  <a:close/>
                </a:path>
              </a:pathLst>
            </a:custGeom>
            <a:blipFill>
              <a:blip r:embed="rId3"/>
              <a:stretch>
                <a:fillRect t="-3352" b="-3352"/>
              </a:stretch>
            </a:blipFill>
          </p:spPr>
        </p:sp>
        <p:sp>
          <p:nvSpPr>
            <p:cNvPr id="9" name="TextBox 9"/>
            <p:cNvSpPr txBox="1"/>
            <p:nvPr/>
          </p:nvSpPr>
          <p:spPr>
            <a:xfrm>
              <a:off x="1327429" y="262693"/>
              <a:ext cx="4006283" cy="560380"/>
            </a:xfrm>
            <a:prstGeom prst="rect">
              <a:avLst/>
            </a:prstGeom>
          </p:spPr>
          <p:txBody>
            <a:bodyPr lIns="0" tIns="0" rIns="0" bIns="0" rtlCol="0" anchor="t">
              <a:spAutoFit/>
            </a:bodyPr>
            <a:lstStyle/>
            <a:p>
              <a:pPr algn="just">
                <a:lnSpc>
                  <a:spcPts val="3553"/>
                </a:lnSpc>
                <a:spcBef>
                  <a:spcPct val="0"/>
                </a:spcBef>
              </a:pPr>
              <a:r>
                <a:rPr lang="en-US" sz="2538" b="1">
                  <a:solidFill>
                    <a:srgbClr val="FFFFFF"/>
                  </a:solidFill>
                  <a:latin typeface="Open Sans Bold"/>
                  <a:ea typeface="Open Sans Bold"/>
                  <a:cs typeface="Open Sans Bold"/>
                  <a:sym typeface="Open Sans Bold"/>
                </a:rPr>
                <a:t>Team Kernel Panic</a:t>
              </a:r>
            </a:p>
          </p:txBody>
        </p:sp>
      </p:grpSp>
      <p:sp>
        <p:nvSpPr>
          <p:cNvPr id="10" name="TextBox 10"/>
          <p:cNvSpPr txBox="1"/>
          <p:nvPr/>
        </p:nvSpPr>
        <p:spPr>
          <a:xfrm>
            <a:off x="5940332" y="304800"/>
            <a:ext cx="10728008" cy="1295400"/>
          </a:xfrm>
          <a:prstGeom prst="rect">
            <a:avLst/>
          </a:prstGeom>
        </p:spPr>
        <p:txBody>
          <a:bodyPr lIns="0" tIns="0" rIns="0" bIns="0" rtlCol="0" anchor="t">
            <a:spAutoFit/>
          </a:bodyPr>
          <a:lstStyle/>
          <a:p>
            <a:pPr algn="ctr">
              <a:lnSpc>
                <a:spcPts val="10500"/>
              </a:lnSpc>
            </a:pPr>
            <a:r>
              <a:rPr lang="en-US" sz="7500" b="1">
                <a:solidFill>
                  <a:srgbClr val="000000"/>
                </a:solidFill>
                <a:latin typeface="Canva Sans Bold"/>
                <a:ea typeface="Canva Sans Bold"/>
                <a:cs typeface="Canva Sans Bold"/>
                <a:sym typeface="Canva Sans Bold"/>
              </a:rPr>
              <a:t>Requirements</a:t>
            </a:r>
          </a:p>
        </p:txBody>
      </p:sp>
      <p:sp>
        <p:nvSpPr>
          <p:cNvPr id="11" name="TextBox 11"/>
          <p:cNvSpPr txBox="1"/>
          <p:nvPr/>
        </p:nvSpPr>
        <p:spPr>
          <a:xfrm>
            <a:off x="5447866" y="3437890"/>
            <a:ext cx="11712940" cy="6849110"/>
          </a:xfrm>
          <a:prstGeom prst="rect">
            <a:avLst/>
          </a:prstGeom>
        </p:spPr>
        <p:txBody>
          <a:bodyPr lIns="0" tIns="0" rIns="0" bIns="0" rtlCol="0" anchor="t">
            <a:spAutoFit/>
          </a:bodyPr>
          <a:lstStyle/>
          <a:p>
            <a:pPr algn="just">
              <a:lnSpc>
                <a:spcPts val="3640"/>
              </a:lnSpc>
            </a:pPr>
            <a:r>
              <a:rPr lang="en-US" sz="2600">
                <a:solidFill>
                  <a:srgbClr val="000000"/>
                </a:solidFill>
                <a:latin typeface="Canva Sans"/>
                <a:ea typeface="Canva Sans"/>
                <a:cs typeface="Canva Sans"/>
                <a:sym typeface="Canva Sans"/>
              </a:rPr>
              <a:t>The webapp must allow users to apply to recruitment posts and enable recruiters to manage the selection process.</a:t>
            </a:r>
          </a:p>
          <a:p>
            <a:pPr algn="just">
              <a:lnSpc>
                <a:spcPts val="3640"/>
              </a:lnSpc>
            </a:pPr>
            <a:endParaRPr lang="en-US" sz="2600">
              <a:solidFill>
                <a:srgbClr val="000000"/>
              </a:solidFill>
              <a:latin typeface="Canva Sans"/>
              <a:ea typeface="Canva Sans"/>
              <a:cs typeface="Canva Sans"/>
              <a:sym typeface="Canva Sans"/>
            </a:endParaRPr>
          </a:p>
          <a:p>
            <a:pPr algn="just">
              <a:lnSpc>
                <a:spcPts val="3640"/>
              </a:lnSpc>
            </a:pPr>
            <a:r>
              <a:rPr lang="en-US" sz="2600">
                <a:solidFill>
                  <a:srgbClr val="000000"/>
                </a:solidFill>
                <a:latin typeface="Canva Sans"/>
                <a:ea typeface="Canva Sans"/>
                <a:cs typeface="Canva Sans"/>
                <a:sym typeface="Canva Sans"/>
              </a:rPr>
              <a:t>This must include functionality for users to submit applications to open recruitments, subject to eligibility constraints defined in the recruitment post.</a:t>
            </a:r>
          </a:p>
          <a:p>
            <a:pPr algn="just">
              <a:lnSpc>
                <a:spcPts val="3640"/>
              </a:lnSpc>
            </a:pPr>
            <a:endParaRPr lang="en-US" sz="2600">
              <a:solidFill>
                <a:srgbClr val="000000"/>
              </a:solidFill>
              <a:latin typeface="Canva Sans"/>
              <a:ea typeface="Canva Sans"/>
              <a:cs typeface="Canva Sans"/>
              <a:sym typeface="Canva Sans"/>
            </a:endParaRPr>
          </a:p>
          <a:p>
            <a:pPr algn="just">
              <a:lnSpc>
                <a:spcPts val="3640"/>
              </a:lnSpc>
            </a:pPr>
            <a:r>
              <a:rPr lang="en-US" sz="2600">
                <a:solidFill>
                  <a:srgbClr val="000000"/>
                </a:solidFill>
                <a:latin typeface="Canva Sans"/>
                <a:ea typeface="Canva Sans"/>
                <a:cs typeface="Canva Sans"/>
                <a:sym typeface="Canva Sans"/>
              </a:rPr>
              <a:t>Recruiters must be able to view a list of applicants, access relevant applicant details, and take actions such as accepting or rejecting applications.</a:t>
            </a:r>
          </a:p>
          <a:p>
            <a:pPr algn="just">
              <a:lnSpc>
                <a:spcPts val="3640"/>
              </a:lnSpc>
            </a:pPr>
            <a:endParaRPr lang="en-US" sz="2600">
              <a:solidFill>
                <a:srgbClr val="000000"/>
              </a:solidFill>
              <a:latin typeface="Canva Sans"/>
              <a:ea typeface="Canva Sans"/>
              <a:cs typeface="Canva Sans"/>
              <a:sym typeface="Canva Sans"/>
            </a:endParaRPr>
          </a:p>
          <a:p>
            <a:pPr algn="just">
              <a:lnSpc>
                <a:spcPts val="3640"/>
              </a:lnSpc>
            </a:pPr>
            <a:r>
              <a:rPr lang="en-US" sz="2600">
                <a:solidFill>
                  <a:srgbClr val="000000"/>
                </a:solidFill>
                <a:latin typeface="Canva Sans"/>
                <a:ea typeface="Canva Sans"/>
                <a:cs typeface="Canva Sans"/>
                <a:sym typeface="Canva Sans"/>
              </a:rPr>
              <a:t>The system should maintain the status of each application (e.g., pending, accepted, rejected) and notify users regarding updates to their application status.</a:t>
            </a:r>
          </a:p>
          <a:p>
            <a:pPr algn="just">
              <a:lnSpc>
                <a:spcPts val="3640"/>
              </a:lnSpc>
            </a:pPr>
            <a:endParaRPr lang="en-US" sz="2600">
              <a:solidFill>
                <a:srgbClr val="000000"/>
              </a:solidFill>
              <a:latin typeface="Canva Sans"/>
              <a:ea typeface="Canva Sans"/>
              <a:cs typeface="Canva Sans"/>
              <a:sym typeface="Canva Sans"/>
            </a:endParaRPr>
          </a:p>
        </p:txBody>
      </p:sp>
      <p:sp>
        <p:nvSpPr>
          <p:cNvPr id="12" name="TextBox 12"/>
          <p:cNvSpPr txBox="1"/>
          <p:nvPr/>
        </p:nvSpPr>
        <p:spPr>
          <a:xfrm>
            <a:off x="5447866" y="2476500"/>
            <a:ext cx="11712940" cy="679450"/>
          </a:xfrm>
          <a:prstGeom prst="rect">
            <a:avLst/>
          </a:prstGeom>
        </p:spPr>
        <p:txBody>
          <a:bodyPr lIns="0" tIns="0" rIns="0" bIns="0" rtlCol="0" anchor="t">
            <a:spAutoFit/>
          </a:bodyPr>
          <a:lstStyle/>
          <a:p>
            <a:pPr algn="l">
              <a:lnSpc>
                <a:spcPts val="5599"/>
              </a:lnSpc>
            </a:pPr>
            <a:r>
              <a:rPr lang="en-US" sz="3999" b="1">
                <a:solidFill>
                  <a:srgbClr val="000000"/>
                </a:solidFill>
                <a:latin typeface="Canva Sans Bold"/>
                <a:ea typeface="Canva Sans Bold"/>
                <a:cs typeface="Canva Sans Bold"/>
                <a:sym typeface="Canva Sans Bold"/>
              </a:rPr>
              <a:t>Application &amp; Selection Workflow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4545708" cy="10287000"/>
            <a:chOff x="0" y="0"/>
            <a:chExt cx="1197223" cy="2709333"/>
          </a:xfrm>
        </p:grpSpPr>
        <p:sp>
          <p:nvSpPr>
            <p:cNvPr id="3" name="Freeform 3"/>
            <p:cNvSpPr/>
            <p:nvPr/>
          </p:nvSpPr>
          <p:spPr>
            <a:xfrm>
              <a:off x="0" y="0"/>
              <a:ext cx="1197224" cy="2709333"/>
            </a:xfrm>
            <a:custGeom>
              <a:avLst/>
              <a:gdLst/>
              <a:ahLst/>
              <a:cxnLst/>
              <a:rect l="l" t="t" r="r" b="b"/>
              <a:pathLst>
                <a:path w="1197224" h="2709333">
                  <a:moveTo>
                    <a:pt x="0" y="0"/>
                  </a:moveTo>
                  <a:lnTo>
                    <a:pt x="1197224" y="0"/>
                  </a:lnTo>
                  <a:lnTo>
                    <a:pt x="1197224" y="2709333"/>
                  </a:lnTo>
                  <a:lnTo>
                    <a:pt x="0" y="2709333"/>
                  </a:lnTo>
                  <a:close/>
                </a:path>
              </a:pathLst>
            </a:custGeom>
            <a:gradFill rotWithShape="1">
              <a:gsLst>
                <a:gs pos="0">
                  <a:srgbClr val="7FA4A4">
                    <a:alpha val="100000"/>
                  </a:srgbClr>
                </a:gs>
                <a:gs pos="50000">
                  <a:srgbClr val="305A72">
                    <a:alpha val="100000"/>
                  </a:srgbClr>
                </a:gs>
                <a:gs pos="100000">
                  <a:srgbClr val="1A3C5C">
                    <a:alpha val="100000"/>
                  </a:srgbClr>
                </a:gs>
              </a:gsLst>
              <a:lin ang="2700000"/>
            </a:gradFill>
          </p:spPr>
        </p:sp>
        <p:sp>
          <p:nvSpPr>
            <p:cNvPr id="4" name="TextBox 4"/>
            <p:cNvSpPr txBox="1"/>
            <p:nvPr/>
          </p:nvSpPr>
          <p:spPr>
            <a:xfrm>
              <a:off x="0" y="-47625"/>
              <a:ext cx="1197223" cy="2756958"/>
            </a:xfrm>
            <a:prstGeom prst="rect">
              <a:avLst/>
            </a:prstGeom>
          </p:spPr>
          <p:txBody>
            <a:bodyPr lIns="50800" tIns="50800" rIns="50800" bIns="50800" rtlCol="0" anchor="ctr"/>
            <a:lstStyle/>
            <a:p>
              <a:pPr algn="ctr">
                <a:lnSpc>
                  <a:spcPts val="2239"/>
                </a:lnSpc>
              </a:pPr>
              <a:endParaRPr/>
            </a:p>
          </p:txBody>
        </p:sp>
      </p:grpSp>
      <p:sp>
        <p:nvSpPr>
          <p:cNvPr id="5" name="Freeform 5"/>
          <p:cNvSpPr/>
          <p:nvPr/>
        </p:nvSpPr>
        <p:spPr>
          <a:xfrm>
            <a:off x="-13742292"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75000"/>
            </a:blip>
            <a:stretch>
              <a:fillRect l="-12529" r="-12529"/>
            </a:stretch>
          </a:blipFill>
        </p:spPr>
      </p:sp>
      <p:sp>
        <p:nvSpPr>
          <p:cNvPr id="6" name="TextBox 6"/>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7</a:t>
            </a:r>
          </a:p>
        </p:txBody>
      </p:sp>
      <p:grpSp>
        <p:nvGrpSpPr>
          <p:cNvPr id="7" name="Group 7"/>
          <p:cNvGrpSpPr/>
          <p:nvPr/>
        </p:nvGrpSpPr>
        <p:grpSpPr>
          <a:xfrm>
            <a:off x="272712" y="178657"/>
            <a:ext cx="4000284" cy="850043"/>
            <a:chOff x="0" y="0"/>
            <a:chExt cx="5333713" cy="1133391"/>
          </a:xfrm>
        </p:grpSpPr>
        <p:sp>
          <p:nvSpPr>
            <p:cNvPr id="8" name="Freeform 8"/>
            <p:cNvSpPr/>
            <p:nvPr/>
          </p:nvSpPr>
          <p:spPr>
            <a:xfrm>
              <a:off x="0" y="0"/>
              <a:ext cx="1209379" cy="1133391"/>
            </a:xfrm>
            <a:custGeom>
              <a:avLst/>
              <a:gdLst/>
              <a:ahLst/>
              <a:cxnLst/>
              <a:rect l="l" t="t" r="r" b="b"/>
              <a:pathLst>
                <a:path w="1209379" h="1133391">
                  <a:moveTo>
                    <a:pt x="0" y="0"/>
                  </a:moveTo>
                  <a:lnTo>
                    <a:pt x="1209379" y="0"/>
                  </a:lnTo>
                  <a:lnTo>
                    <a:pt x="1209379" y="1133391"/>
                  </a:lnTo>
                  <a:lnTo>
                    <a:pt x="0" y="1133391"/>
                  </a:lnTo>
                  <a:lnTo>
                    <a:pt x="0" y="0"/>
                  </a:lnTo>
                  <a:close/>
                </a:path>
              </a:pathLst>
            </a:custGeom>
            <a:blipFill>
              <a:blip r:embed="rId3"/>
              <a:stretch>
                <a:fillRect t="-3352" b="-3352"/>
              </a:stretch>
            </a:blipFill>
          </p:spPr>
        </p:sp>
        <p:sp>
          <p:nvSpPr>
            <p:cNvPr id="9" name="TextBox 9"/>
            <p:cNvSpPr txBox="1"/>
            <p:nvPr/>
          </p:nvSpPr>
          <p:spPr>
            <a:xfrm>
              <a:off x="1327429" y="262693"/>
              <a:ext cx="4006283" cy="560380"/>
            </a:xfrm>
            <a:prstGeom prst="rect">
              <a:avLst/>
            </a:prstGeom>
          </p:spPr>
          <p:txBody>
            <a:bodyPr lIns="0" tIns="0" rIns="0" bIns="0" rtlCol="0" anchor="t">
              <a:spAutoFit/>
            </a:bodyPr>
            <a:lstStyle/>
            <a:p>
              <a:pPr algn="just">
                <a:lnSpc>
                  <a:spcPts val="3553"/>
                </a:lnSpc>
                <a:spcBef>
                  <a:spcPct val="0"/>
                </a:spcBef>
              </a:pPr>
              <a:r>
                <a:rPr lang="en-US" sz="2538" b="1">
                  <a:solidFill>
                    <a:srgbClr val="FFFFFF"/>
                  </a:solidFill>
                  <a:latin typeface="Open Sans Bold"/>
                  <a:ea typeface="Open Sans Bold"/>
                  <a:cs typeface="Open Sans Bold"/>
                  <a:sym typeface="Open Sans Bold"/>
                </a:rPr>
                <a:t>Team Kernel Panic</a:t>
              </a:r>
            </a:p>
          </p:txBody>
        </p:sp>
      </p:grpSp>
      <p:sp>
        <p:nvSpPr>
          <p:cNvPr id="10" name="TextBox 10"/>
          <p:cNvSpPr txBox="1"/>
          <p:nvPr/>
        </p:nvSpPr>
        <p:spPr>
          <a:xfrm>
            <a:off x="5940332" y="304800"/>
            <a:ext cx="10728008" cy="1295400"/>
          </a:xfrm>
          <a:prstGeom prst="rect">
            <a:avLst/>
          </a:prstGeom>
        </p:spPr>
        <p:txBody>
          <a:bodyPr lIns="0" tIns="0" rIns="0" bIns="0" rtlCol="0" anchor="t">
            <a:spAutoFit/>
          </a:bodyPr>
          <a:lstStyle/>
          <a:p>
            <a:pPr algn="ctr">
              <a:lnSpc>
                <a:spcPts val="10500"/>
              </a:lnSpc>
            </a:pPr>
            <a:r>
              <a:rPr lang="en-US" sz="7500" b="1">
                <a:solidFill>
                  <a:srgbClr val="000000"/>
                </a:solidFill>
                <a:latin typeface="Canva Sans Bold"/>
                <a:ea typeface="Canva Sans Bold"/>
                <a:cs typeface="Canva Sans Bold"/>
                <a:sym typeface="Canva Sans Bold"/>
              </a:rPr>
              <a:t>Requirements</a:t>
            </a:r>
          </a:p>
        </p:txBody>
      </p:sp>
      <p:sp>
        <p:nvSpPr>
          <p:cNvPr id="11" name="TextBox 11"/>
          <p:cNvSpPr txBox="1"/>
          <p:nvPr/>
        </p:nvSpPr>
        <p:spPr>
          <a:xfrm>
            <a:off x="5447866" y="3528986"/>
            <a:ext cx="11712940" cy="7306310"/>
          </a:xfrm>
          <a:prstGeom prst="rect">
            <a:avLst/>
          </a:prstGeom>
        </p:spPr>
        <p:txBody>
          <a:bodyPr lIns="0" tIns="0" rIns="0" bIns="0" rtlCol="0" anchor="t">
            <a:spAutoFit/>
          </a:bodyPr>
          <a:lstStyle/>
          <a:p>
            <a:pPr algn="just">
              <a:lnSpc>
                <a:spcPts val="3640"/>
              </a:lnSpc>
            </a:pPr>
            <a:r>
              <a:rPr lang="en-US" sz="2600">
                <a:solidFill>
                  <a:srgbClr val="000000"/>
                </a:solidFill>
                <a:latin typeface="Canva Sans"/>
                <a:ea typeface="Canva Sans"/>
                <a:cs typeface="Canva Sans"/>
                <a:sym typeface="Canva Sans"/>
              </a:rPr>
              <a:t>The webapp must provide a unified search and discovery system for projects, recruitments, and users.</a:t>
            </a:r>
          </a:p>
          <a:p>
            <a:pPr algn="just">
              <a:lnSpc>
                <a:spcPts val="3640"/>
              </a:lnSpc>
            </a:pPr>
            <a:endParaRPr lang="en-US" sz="2600">
              <a:solidFill>
                <a:srgbClr val="000000"/>
              </a:solidFill>
              <a:latin typeface="Canva Sans"/>
              <a:ea typeface="Canva Sans"/>
              <a:cs typeface="Canva Sans"/>
              <a:sym typeface="Canva Sans"/>
            </a:endParaRPr>
          </a:p>
          <a:p>
            <a:pPr algn="just">
              <a:lnSpc>
                <a:spcPts val="3640"/>
              </a:lnSpc>
            </a:pPr>
            <a:r>
              <a:rPr lang="en-US" sz="2600">
                <a:solidFill>
                  <a:srgbClr val="000000"/>
                </a:solidFill>
                <a:latin typeface="Canva Sans"/>
                <a:ea typeface="Canva Sans"/>
                <a:cs typeface="Canva Sans"/>
                <a:sym typeface="Canva Sans"/>
              </a:rPr>
              <a:t>This must include a global search bar that allows users to query the platform using keywords or phrases, with support for relevant result retrieval.</a:t>
            </a:r>
          </a:p>
          <a:p>
            <a:pPr algn="just">
              <a:lnSpc>
                <a:spcPts val="3640"/>
              </a:lnSpc>
            </a:pPr>
            <a:endParaRPr lang="en-US" sz="2600">
              <a:solidFill>
                <a:srgbClr val="000000"/>
              </a:solidFill>
              <a:latin typeface="Canva Sans"/>
              <a:ea typeface="Canva Sans"/>
              <a:cs typeface="Canva Sans"/>
              <a:sym typeface="Canva Sans"/>
            </a:endParaRPr>
          </a:p>
          <a:p>
            <a:pPr algn="just">
              <a:lnSpc>
                <a:spcPts val="3640"/>
              </a:lnSpc>
            </a:pPr>
            <a:r>
              <a:rPr lang="en-US" sz="2600">
                <a:solidFill>
                  <a:srgbClr val="000000"/>
                </a:solidFill>
                <a:latin typeface="Canva Sans"/>
                <a:ea typeface="Canva Sans"/>
                <a:cs typeface="Canva Sans"/>
                <a:sym typeface="Canva Sans"/>
              </a:rPr>
              <a:t>The system should categorize results into projects, recruitments, and users, displaying them in a structured, card-based layout with key information such as titles, descriptions, and user details.</a:t>
            </a:r>
          </a:p>
          <a:p>
            <a:pPr algn="just">
              <a:lnSpc>
                <a:spcPts val="3640"/>
              </a:lnSpc>
            </a:pPr>
            <a:endParaRPr lang="en-US" sz="2600">
              <a:solidFill>
                <a:srgbClr val="000000"/>
              </a:solidFill>
              <a:latin typeface="Canva Sans"/>
              <a:ea typeface="Canva Sans"/>
              <a:cs typeface="Canva Sans"/>
              <a:sym typeface="Canva Sans"/>
            </a:endParaRPr>
          </a:p>
          <a:p>
            <a:pPr algn="just">
              <a:lnSpc>
                <a:spcPts val="3640"/>
              </a:lnSpc>
            </a:pPr>
            <a:r>
              <a:rPr lang="en-US" sz="2600">
                <a:solidFill>
                  <a:srgbClr val="000000"/>
                </a:solidFill>
                <a:latin typeface="Canva Sans"/>
                <a:ea typeface="Canva Sans"/>
                <a:cs typeface="Canva Sans"/>
                <a:sym typeface="Canva Sans"/>
              </a:rPr>
              <a:t>Users must be able to refine search results using filters such as domains, skills, designations, and departments to improve relevance.</a:t>
            </a:r>
          </a:p>
          <a:p>
            <a:pPr algn="just">
              <a:lnSpc>
                <a:spcPts val="3640"/>
              </a:lnSpc>
            </a:pPr>
            <a:endParaRPr lang="en-US" sz="2600">
              <a:solidFill>
                <a:srgbClr val="000000"/>
              </a:solidFill>
              <a:latin typeface="Canva Sans"/>
              <a:ea typeface="Canva Sans"/>
              <a:cs typeface="Canva Sans"/>
              <a:sym typeface="Canva Sans"/>
            </a:endParaRPr>
          </a:p>
          <a:p>
            <a:pPr algn="just">
              <a:lnSpc>
                <a:spcPts val="3640"/>
              </a:lnSpc>
            </a:pPr>
            <a:r>
              <a:rPr lang="en-US" sz="2600">
                <a:solidFill>
                  <a:srgbClr val="000000"/>
                </a:solidFill>
                <a:latin typeface="Canva Sans"/>
                <a:ea typeface="Canva Sans"/>
                <a:cs typeface="Canva Sans"/>
                <a:sym typeface="Canva Sans"/>
              </a:rPr>
              <a:t> </a:t>
            </a:r>
          </a:p>
          <a:p>
            <a:pPr algn="just">
              <a:lnSpc>
                <a:spcPts val="3640"/>
              </a:lnSpc>
            </a:pPr>
            <a:endParaRPr lang="en-US" sz="2600">
              <a:solidFill>
                <a:srgbClr val="000000"/>
              </a:solidFill>
              <a:latin typeface="Canva Sans"/>
              <a:ea typeface="Canva Sans"/>
              <a:cs typeface="Canva Sans"/>
              <a:sym typeface="Canva Sans"/>
            </a:endParaRPr>
          </a:p>
        </p:txBody>
      </p:sp>
      <p:sp>
        <p:nvSpPr>
          <p:cNvPr id="12" name="TextBox 12"/>
          <p:cNvSpPr txBox="1"/>
          <p:nvPr/>
        </p:nvSpPr>
        <p:spPr>
          <a:xfrm>
            <a:off x="5447866" y="2476500"/>
            <a:ext cx="11712940" cy="679450"/>
          </a:xfrm>
          <a:prstGeom prst="rect">
            <a:avLst/>
          </a:prstGeom>
        </p:spPr>
        <p:txBody>
          <a:bodyPr lIns="0" tIns="0" rIns="0" bIns="0" rtlCol="0" anchor="t">
            <a:spAutoFit/>
          </a:bodyPr>
          <a:lstStyle/>
          <a:p>
            <a:pPr algn="l">
              <a:lnSpc>
                <a:spcPts val="5599"/>
              </a:lnSpc>
            </a:pPr>
            <a:r>
              <a:rPr lang="en-US" sz="3999" b="1">
                <a:solidFill>
                  <a:srgbClr val="000000"/>
                </a:solidFill>
                <a:latin typeface="Canva Sans Bold"/>
                <a:ea typeface="Canva Sans Bold"/>
                <a:cs typeface="Canva Sans Bold"/>
                <a:sym typeface="Canva Sans Bold"/>
              </a:rPr>
              <a:t>Search and Discovery System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sp>
      <p:sp>
        <p:nvSpPr>
          <p:cNvPr id="3" name="TextBox 3"/>
          <p:cNvSpPr txBox="1"/>
          <p:nvPr/>
        </p:nvSpPr>
        <p:spPr>
          <a:xfrm>
            <a:off x="2764038" y="4225038"/>
            <a:ext cx="12759923" cy="1893078"/>
          </a:xfrm>
          <a:prstGeom prst="rect">
            <a:avLst/>
          </a:prstGeom>
        </p:spPr>
        <p:txBody>
          <a:bodyPr lIns="0" tIns="0" rIns="0" bIns="0" rtlCol="0" anchor="t">
            <a:spAutoFit/>
          </a:bodyPr>
          <a:lstStyle/>
          <a:p>
            <a:pPr algn="ctr">
              <a:lnSpc>
                <a:spcPts val="14346"/>
              </a:lnSpc>
            </a:pPr>
            <a:r>
              <a:rPr lang="en-US" sz="14065">
                <a:solidFill>
                  <a:srgbClr val="FFFFFF"/>
                </a:solidFill>
                <a:latin typeface="Montserrat"/>
                <a:ea typeface="Montserrat"/>
                <a:cs typeface="Montserrat"/>
                <a:sym typeface="Montserrat"/>
              </a:rPr>
              <a:t>THANK YOU</a:t>
            </a:r>
          </a:p>
        </p:txBody>
      </p:sp>
      <p:sp>
        <p:nvSpPr>
          <p:cNvPr id="4" name="Freeform 4"/>
          <p:cNvSpPr/>
          <p:nvPr/>
        </p:nvSpPr>
        <p:spPr>
          <a:xfrm>
            <a:off x="6567940" y="2371974"/>
            <a:ext cx="966845" cy="995814"/>
          </a:xfrm>
          <a:custGeom>
            <a:avLst/>
            <a:gdLst/>
            <a:ahLst/>
            <a:cxnLst/>
            <a:rect l="l" t="t" r="r" b="b"/>
            <a:pathLst>
              <a:path w="966845" h="995814">
                <a:moveTo>
                  <a:pt x="0" y="0"/>
                </a:moveTo>
                <a:lnTo>
                  <a:pt x="966845" y="0"/>
                </a:lnTo>
                <a:lnTo>
                  <a:pt x="966845" y="995814"/>
                </a:lnTo>
                <a:lnTo>
                  <a:pt x="0" y="995814"/>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TextBox 5"/>
          <p:cNvSpPr txBox="1"/>
          <p:nvPr/>
        </p:nvSpPr>
        <p:spPr>
          <a:xfrm>
            <a:off x="7872682" y="2557119"/>
            <a:ext cx="4483871" cy="587424"/>
          </a:xfrm>
          <a:prstGeom prst="rect">
            <a:avLst/>
          </a:prstGeom>
        </p:spPr>
        <p:txBody>
          <a:bodyPr lIns="0" tIns="0" rIns="0" bIns="0" rtlCol="0" anchor="t">
            <a:spAutoFit/>
          </a:bodyPr>
          <a:lstStyle/>
          <a:p>
            <a:pPr algn="l">
              <a:lnSpc>
                <a:spcPts val="4979"/>
              </a:lnSpc>
              <a:spcBef>
                <a:spcPct val="0"/>
              </a:spcBef>
            </a:pPr>
            <a:r>
              <a:rPr lang="en-US" sz="3556">
                <a:solidFill>
                  <a:srgbClr val="FFFFFF"/>
                </a:solidFill>
                <a:latin typeface="Open Sans"/>
                <a:ea typeface="Open Sans"/>
                <a:cs typeface="Open Sans"/>
                <a:sym typeface="Open Sans"/>
              </a:rPr>
              <a:t>Ingoude Company</a:t>
            </a:r>
          </a:p>
        </p:txBody>
      </p:sp>
      <p:sp>
        <p:nvSpPr>
          <p:cNvPr id="6" name="TextBox 6"/>
          <p:cNvSpPr txBox="1"/>
          <p:nvPr/>
        </p:nvSpPr>
        <p:spPr>
          <a:xfrm>
            <a:off x="4026932" y="6613415"/>
            <a:ext cx="10234136" cy="616773"/>
          </a:xfrm>
          <a:prstGeom prst="rect">
            <a:avLst/>
          </a:prstGeom>
        </p:spPr>
        <p:txBody>
          <a:bodyPr lIns="0" tIns="0" rIns="0" bIns="0" rtlCol="0" anchor="t">
            <a:spAutoFit/>
          </a:bodyPr>
          <a:lstStyle/>
          <a:p>
            <a:pPr algn="ctr">
              <a:lnSpc>
                <a:spcPts val="1680"/>
              </a:lnSpc>
              <a:spcBef>
                <a:spcPct val="0"/>
              </a:spcBef>
            </a:pPr>
            <a:r>
              <a:rPr lang="en-US" sz="1200">
                <a:solidFill>
                  <a:srgbClr val="FFFFFF"/>
                </a:solidFill>
                <a:latin typeface="Open Sans"/>
                <a:ea typeface="Open Sans"/>
                <a:cs typeface="Open Sans"/>
                <a:sym typeface="Open Sans"/>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a:t>
            </a:r>
          </a:p>
        </p:txBody>
      </p:sp>
      <p:sp>
        <p:nvSpPr>
          <p:cNvPr id="7" name="AutoShape 7"/>
          <p:cNvSpPr/>
          <p:nvPr/>
        </p:nvSpPr>
        <p:spPr>
          <a:xfrm>
            <a:off x="7669737" y="7905501"/>
            <a:ext cx="2948526" cy="0"/>
          </a:xfrm>
          <a:prstGeom prst="line">
            <a:avLst/>
          </a:prstGeom>
          <a:ln w="19050" cap="flat">
            <a:solidFill>
              <a:srgbClr val="FFFFFF"/>
            </a:solidFill>
            <a:prstDash val="solid"/>
            <a:headEnd type="none" w="sm" len="sm"/>
            <a:tailEnd type="none" w="sm" len="sm"/>
          </a:ln>
        </p:spPr>
      </p:sp>
      <p:sp>
        <p:nvSpPr>
          <p:cNvPr id="8" name="TextBox 8"/>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FFFFFF"/>
                </a:solidFill>
                <a:latin typeface="Canva Sans"/>
                <a:ea typeface="Canva Sans"/>
                <a:cs typeface="Canva Sans"/>
                <a:sym typeface="Canva Sans"/>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TotalTime>
  <Words>855</Words>
  <Application>Microsoft Office PowerPoint</Application>
  <PresentationFormat>Custom</PresentationFormat>
  <Paragraphs>78</Paragraphs>
  <Slides>9</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vt:i4>
      </vt:variant>
    </vt:vector>
  </HeadingPairs>
  <TitlesOfParts>
    <vt:vector size="18" baseType="lpstr">
      <vt:lpstr>Montserrat</vt:lpstr>
      <vt:lpstr>Canva Sans Bold</vt:lpstr>
      <vt:lpstr>Open Sans Bold</vt:lpstr>
      <vt:lpstr>Calibri</vt:lpstr>
      <vt:lpstr>Canva Sans</vt:lpstr>
      <vt:lpstr>Open Sans</vt:lpstr>
      <vt:lpstr>Montserrat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IITK ProjectSpace</dc:title>
  <cp:lastModifiedBy>Aman Srivastava</cp:lastModifiedBy>
  <cp:revision>4</cp:revision>
  <dcterms:created xsi:type="dcterms:W3CDTF">2006-08-16T00:00:00Z</dcterms:created>
  <dcterms:modified xsi:type="dcterms:W3CDTF">2026-04-16T07:47:45Z</dcterms:modified>
  <dc:identifier>DAHGlDR5P4k</dc:identifier>
</cp:coreProperties>
</file>